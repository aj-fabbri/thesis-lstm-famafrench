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6CFAF7-B289-5946-B9C9-1BE57A50AADA}" v="316" dt="2025-04-20T01:35:24.2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55"/>
    <p:restoredTop sz="94620"/>
  </p:normalViewPr>
  <p:slideViewPr>
    <p:cSldViewPr snapToGrid="0">
      <p:cViewPr varScale="1">
        <p:scale>
          <a:sx n="121" d="100"/>
          <a:sy n="121" d="100"/>
        </p:scale>
        <p:origin x="109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J Fabbri (S)" userId="411f0d52-f0e5-47fe-8e18-86da452dc1ef" providerId="ADAL" clId="{F66CFAF7-B289-5946-B9C9-1BE57A50AADA}"/>
    <pc:docChg chg="undo custSel addSld modSld">
      <pc:chgData name="AJ Fabbri (S)" userId="411f0d52-f0e5-47fe-8e18-86da452dc1ef" providerId="ADAL" clId="{F66CFAF7-B289-5946-B9C9-1BE57A50AADA}" dt="2025-04-20T01:36:00.279" v="3429" actId="26606"/>
      <pc:docMkLst>
        <pc:docMk/>
      </pc:docMkLst>
      <pc:sldChg chg="addSp delSp modSp mod">
        <pc:chgData name="AJ Fabbri (S)" userId="411f0d52-f0e5-47fe-8e18-86da452dc1ef" providerId="ADAL" clId="{F66CFAF7-B289-5946-B9C9-1BE57A50AADA}" dt="2025-04-20T01:33:50.792" v="3414" actId="1076"/>
        <pc:sldMkLst>
          <pc:docMk/>
          <pc:sldMk cId="3690999988" sldId="256"/>
        </pc:sldMkLst>
        <pc:picChg chg="mod">
          <ac:chgData name="AJ Fabbri (S)" userId="411f0d52-f0e5-47fe-8e18-86da452dc1ef" providerId="ADAL" clId="{F66CFAF7-B289-5946-B9C9-1BE57A50AADA}" dt="2025-04-20T01:33:50.792" v="3414" actId="1076"/>
          <ac:picMkLst>
            <pc:docMk/>
            <pc:sldMk cId="3690999988" sldId="256"/>
            <ac:picMk id="4" creationId="{CC9C1385-672A-C826-A066-744FD9D3FD94}"/>
          </ac:picMkLst>
        </pc:picChg>
        <pc:picChg chg="add del">
          <ac:chgData name="AJ Fabbri (S)" userId="411f0d52-f0e5-47fe-8e18-86da452dc1ef" providerId="ADAL" clId="{F66CFAF7-B289-5946-B9C9-1BE57A50AADA}" dt="2025-04-20T01:33:23.116" v="3407" actId="478"/>
          <ac:picMkLst>
            <pc:docMk/>
            <pc:sldMk cId="3690999988" sldId="256"/>
            <ac:picMk id="2050" creationId="{191EE6F9-1149-99EC-54B7-83163A8019AA}"/>
          </ac:picMkLst>
        </pc:picChg>
        <pc:picChg chg="add mod">
          <ac:chgData name="AJ Fabbri (S)" userId="411f0d52-f0e5-47fe-8e18-86da452dc1ef" providerId="ADAL" clId="{F66CFAF7-B289-5946-B9C9-1BE57A50AADA}" dt="2025-04-20T01:33:47.400" v="3412" actId="1076"/>
          <ac:picMkLst>
            <pc:docMk/>
            <pc:sldMk cId="3690999988" sldId="256"/>
            <ac:picMk id="2052" creationId="{E7BB5701-5DA3-9C5B-2F9B-FF7E069E83DF}"/>
          </ac:picMkLst>
        </pc:picChg>
      </pc:sldChg>
      <pc:sldChg chg="modNotesTx">
        <pc:chgData name="AJ Fabbri (S)" userId="411f0d52-f0e5-47fe-8e18-86da452dc1ef" providerId="ADAL" clId="{F66CFAF7-B289-5946-B9C9-1BE57A50AADA}" dt="2025-04-20T01:15:49.073" v="2522" actId="20577"/>
        <pc:sldMkLst>
          <pc:docMk/>
          <pc:sldMk cId="3479994582" sldId="260"/>
        </pc:sldMkLst>
      </pc:sldChg>
      <pc:sldChg chg="modSp mod">
        <pc:chgData name="AJ Fabbri (S)" userId="411f0d52-f0e5-47fe-8e18-86da452dc1ef" providerId="ADAL" clId="{F66CFAF7-B289-5946-B9C9-1BE57A50AADA}" dt="2025-04-20T01:10:24.084" v="1856" actId="20577"/>
        <pc:sldMkLst>
          <pc:docMk/>
          <pc:sldMk cId="2962988100" sldId="263"/>
        </pc:sldMkLst>
        <pc:spChg chg="mod">
          <ac:chgData name="AJ Fabbri (S)" userId="411f0d52-f0e5-47fe-8e18-86da452dc1ef" providerId="ADAL" clId="{F66CFAF7-B289-5946-B9C9-1BE57A50AADA}" dt="2025-04-20T01:10:24.084" v="1856" actId="20577"/>
          <ac:spMkLst>
            <pc:docMk/>
            <pc:sldMk cId="2962988100" sldId="263"/>
            <ac:spMk id="2" creationId="{328F33B8-D490-3A28-9865-187805C70452}"/>
          </ac:spMkLst>
        </pc:spChg>
      </pc:sldChg>
      <pc:sldChg chg="addSp delSp modSp mod">
        <pc:chgData name="AJ Fabbri (S)" userId="411f0d52-f0e5-47fe-8e18-86da452dc1ef" providerId="ADAL" clId="{F66CFAF7-B289-5946-B9C9-1BE57A50AADA}" dt="2025-04-20T00:42:32.155" v="45" actId="14100"/>
        <pc:sldMkLst>
          <pc:docMk/>
          <pc:sldMk cId="651072435" sldId="270"/>
        </pc:sldMkLst>
        <pc:graphicFrameChg chg="mod">
          <ac:chgData name="AJ Fabbri (S)" userId="411f0d52-f0e5-47fe-8e18-86da452dc1ef" providerId="ADAL" clId="{F66CFAF7-B289-5946-B9C9-1BE57A50AADA}" dt="2025-04-19T20:45:16.530" v="14" actId="1076"/>
          <ac:graphicFrameMkLst>
            <pc:docMk/>
            <pc:sldMk cId="651072435" sldId="270"/>
            <ac:graphicFrameMk id="5" creationId="{711DB508-50B4-D7F4-0669-F923FD6AD0C0}"/>
          </ac:graphicFrameMkLst>
        </pc:graphicFrameChg>
        <pc:picChg chg="add del mod">
          <ac:chgData name="AJ Fabbri (S)" userId="411f0d52-f0e5-47fe-8e18-86da452dc1ef" providerId="ADAL" clId="{F66CFAF7-B289-5946-B9C9-1BE57A50AADA}" dt="2025-04-20T00:39:01.683" v="22" actId="478"/>
          <ac:picMkLst>
            <pc:docMk/>
            <pc:sldMk cId="651072435" sldId="270"/>
            <ac:picMk id="6" creationId="{78A61D18-4E74-6F78-10F7-3BE6DCDB707B}"/>
          </ac:picMkLst>
        </pc:picChg>
        <pc:picChg chg="add del mod">
          <ac:chgData name="AJ Fabbri (S)" userId="411f0d52-f0e5-47fe-8e18-86da452dc1ef" providerId="ADAL" clId="{F66CFAF7-B289-5946-B9C9-1BE57A50AADA}" dt="2025-04-20T00:42:16.218" v="37" actId="478"/>
          <ac:picMkLst>
            <pc:docMk/>
            <pc:sldMk cId="651072435" sldId="270"/>
            <ac:picMk id="8" creationId="{D6CDCB32-3E10-62C2-36C7-EEA1C6457B73}"/>
          </ac:picMkLst>
        </pc:picChg>
        <pc:picChg chg="add mod">
          <ac:chgData name="AJ Fabbri (S)" userId="411f0d52-f0e5-47fe-8e18-86da452dc1ef" providerId="ADAL" clId="{F66CFAF7-B289-5946-B9C9-1BE57A50AADA}" dt="2025-04-20T00:42:32.155" v="45" actId="14100"/>
          <ac:picMkLst>
            <pc:docMk/>
            <pc:sldMk cId="651072435" sldId="270"/>
            <ac:picMk id="10" creationId="{AD0BC31F-4B21-0844-5239-7ED5977E18C4}"/>
          </ac:picMkLst>
        </pc:picChg>
      </pc:sldChg>
      <pc:sldChg chg="addSp modSp new mod">
        <pc:chgData name="AJ Fabbri (S)" userId="411f0d52-f0e5-47fe-8e18-86da452dc1ef" providerId="ADAL" clId="{F66CFAF7-B289-5946-B9C9-1BE57A50AADA}" dt="2025-04-20T00:45:07.131" v="200" actId="1076"/>
        <pc:sldMkLst>
          <pc:docMk/>
          <pc:sldMk cId="756060529" sldId="271"/>
        </pc:sldMkLst>
        <pc:spChg chg="add mod">
          <ac:chgData name="AJ Fabbri (S)" userId="411f0d52-f0e5-47fe-8e18-86da452dc1ef" providerId="ADAL" clId="{F66CFAF7-B289-5946-B9C9-1BE57A50AADA}" dt="2025-04-20T00:45:07.131" v="200" actId="1076"/>
          <ac:spMkLst>
            <pc:docMk/>
            <pc:sldMk cId="756060529" sldId="271"/>
            <ac:spMk id="7" creationId="{3E4DB8CD-275F-1EA8-1C0A-DE72D6711DD3}"/>
          </ac:spMkLst>
        </pc:spChg>
        <pc:grpChg chg="add mod">
          <ac:chgData name="AJ Fabbri (S)" userId="411f0d52-f0e5-47fe-8e18-86da452dc1ef" providerId="ADAL" clId="{F66CFAF7-B289-5946-B9C9-1BE57A50AADA}" dt="2025-04-20T00:43:58.935" v="115" actId="1076"/>
          <ac:grpSpMkLst>
            <pc:docMk/>
            <pc:sldMk cId="756060529" sldId="271"/>
            <ac:grpSpMk id="6" creationId="{7B5C76B0-66A5-F896-5107-82ADEFC8C3B5}"/>
          </ac:grpSpMkLst>
        </pc:grpChg>
        <pc:picChg chg="add mod">
          <ac:chgData name="AJ Fabbri (S)" userId="411f0d52-f0e5-47fe-8e18-86da452dc1ef" providerId="ADAL" clId="{F66CFAF7-B289-5946-B9C9-1BE57A50AADA}" dt="2025-04-20T00:43:04.006" v="55" actId="164"/>
          <ac:picMkLst>
            <pc:docMk/>
            <pc:sldMk cId="756060529" sldId="271"/>
            <ac:picMk id="3" creationId="{E77D20D7-331E-E8D8-99A8-DBC222BCC01C}"/>
          </ac:picMkLst>
        </pc:picChg>
        <pc:picChg chg="add mod">
          <ac:chgData name="AJ Fabbri (S)" userId="411f0d52-f0e5-47fe-8e18-86da452dc1ef" providerId="ADAL" clId="{F66CFAF7-B289-5946-B9C9-1BE57A50AADA}" dt="2025-04-20T00:43:04.006" v="55" actId="164"/>
          <ac:picMkLst>
            <pc:docMk/>
            <pc:sldMk cId="756060529" sldId="271"/>
            <ac:picMk id="5" creationId="{39FF773D-3F87-5731-7FF5-A984A120872D}"/>
          </ac:picMkLst>
        </pc:picChg>
      </pc:sldChg>
      <pc:sldChg chg="addSp delSp modSp new mod">
        <pc:chgData name="AJ Fabbri (S)" userId="411f0d52-f0e5-47fe-8e18-86da452dc1ef" providerId="ADAL" clId="{F66CFAF7-B289-5946-B9C9-1BE57A50AADA}" dt="2025-04-20T00:55:40.248" v="616" actId="1076"/>
        <pc:sldMkLst>
          <pc:docMk/>
          <pc:sldMk cId="1769279954" sldId="272"/>
        </pc:sldMkLst>
        <pc:spChg chg="mod">
          <ac:chgData name="AJ Fabbri (S)" userId="411f0d52-f0e5-47fe-8e18-86da452dc1ef" providerId="ADAL" clId="{F66CFAF7-B289-5946-B9C9-1BE57A50AADA}" dt="2025-04-20T00:46:50.637" v="249" actId="20577"/>
          <ac:spMkLst>
            <pc:docMk/>
            <pc:sldMk cId="1769279954" sldId="272"/>
            <ac:spMk id="2" creationId="{17E26212-AE5B-7796-61CC-F484B6DD44DF}"/>
          </ac:spMkLst>
        </pc:spChg>
        <pc:spChg chg="del">
          <ac:chgData name="AJ Fabbri (S)" userId="411f0d52-f0e5-47fe-8e18-86da452dc1ef" providerId="ADAL" clId="{F66CFAF7-B289-5946-B9C9-1BE57A50AADA}" dt="2025-04-20T00:46:58.371" v="250"/>
          <ac:spMkLst>
            <pc:docMk/>
            <pc:sldMk cId="1769279954" sldId="272"/>
            <ac:spMk id="3" creationId="{93B1B696-6B66-2575-3033-591941B7F36C}"/>
          </ac:spMkLst>
        </pc:spChg>
        <pc:spChg chg="del">
          <ac:chgData name="AJ Fabbri (S)" userId="411f0d52-f0e5-47fe-8e18-86da452dc1ef" providerId="ADAL" clId="{F66CFAF7-B289-5946-B9C9-1BE57A50AADA}" dt="2025-04-20T00:50:58.435" v="406"/>
          <ac:spMkLst>
            <pc:docMk/>
            <pc:sldMk cId="1769279954" sldId="272"/>
            <ac:spMk id="4" creationId="{6496BA71-AC97-F308-2D3D-BE577E8885B5}"/>
          </ac:spMkLst>
        </pc:spChg>
        <pc:spChg chg="add mod">
          <ac:chgData name="AJ Fabbri (S)" userId="411f0d52-f0e5-47fe-8e18-86da452dc1ef" providerId="ADAL" clId="{F66CFAF7-B289-5946-B9C9-1BE57A50AADA}" dt="2025-04-20T00:49:20.163" v="255" actId="767"/>
          <ac:spMkLst>
            <pc:docMk/>
            <pc:sldMk cId="1769279954" sldId="272"/>
            <ac:spMk id="7" creationId="{599BDB61-8CDF-6377-B71C-105C08DEFD0C}"/>
          </ac:spMkLst>
        </pc:spChg>
        <pc:spChg chg="add mod">
          <ac:chgData name="AJ Fabbri (S)" userId="411f0d52-f0e5-47fe-8e18-86da452dc1ef" providerId="ADAL" clId="{F66CFAF7-B289-5946-B9C9-1BE57A50AADA}" dt="2025-04-20T00:50:28.022" v="405" actId="20577"/>
          <ac:spMkLst>
            <pc:docMk/>
            <pc:sldMk cId="1769279954" sldId="272"/>
            <ac:spMk id="9" creationId="{593A2810-E9AC-A37B-6E8B-A98E9201D136}"/>
          </ac:spMkLst>
        </pc:spChg>
        <pc:spChg chg="add mod">
          <ac:chgData name="AJ Fabbri (S)" userId="411f0d52-f0e5-47fe-8e18-86da452dc1ef" providerId="ADAL" clId="{F66CFAF7-B289-5946-B9C9-1BE57A50AADA}" dt="2025-04-20T00:51:33.361" v="448" actId="14100"/>
          <ac:spMkLst>
            <pc:docMk/>
            <pc:sldMk cId="1769279954" sldId="272"/>
            <ac:spMk id="14" creationId="{49AF1A97-85A3-1186-DE47-18639455B977}"/>
          </ac:spMkLst>
        </pc:spChg>
        <pc:spChg chg="add del mod">
          <ac:chgData name="AJ Fabbri (S)" userId="411f0d52-f0e5-47fe-8e18-86da452dc1ef" providerId="ADAL" clId="{F66CFAF7-B289-5946-B9C9-1BE57A50AADA}" dt="2025-04-20T00:54:40.725" v="466"/>
          <ac:spMkLst>
            <pc:docMk/>
            <pc:sldMk cId="1769279954" sldId="272"/>
            <ac:spMk id="18" creationId="{A12AA28C-1D22-4357-7220-B46EF9B70001}"/>
          </ac:spMkLst>
        </pc:spChg>
        <pc:spChg chg="add mod">
          <ac:chgData name="AJ Fabbri (S)" userId="411f0d52-f0e5-47fe-8e18-86da452dc1ef" providerId="ADAL" clId="{F66CFAF7-B289-5946-B9C9-1BE57A50AADA}" dt="2025-04-20T00:55:40.248" v="616" actId="1076"/>
          <ac:spMkLst>
            <pc:docMk/>
            <pc:sldMk cId="1769279954" sldId="272"/>
            <ac:spMk id="19" creationId="{5B90AE80-3F9D-99C9-6868-EF036DC15EE2}"/>
          </ac:spMkLst>
        </pc:spChg>
        <pc:picChg chg="add del mod">
          <ac:chgData name="AJ Fabbri (S)" userId="411f0d52-f0e5-47fe-8e18-86da452dc1ef" providerId="ADAL" clId="{F66CFAF7-B289-5946-B9C9-1BE57A50AADA}" dt="2025-04-20T00:49:21.859" v="257" actId="21"/>
          <ac:picMkLst>
            <pc:docMk/>
            <pc:sldMk cId="1769279954" sldId="272"/>
            <ac:picMk id="6" creationId="{549594F4-924D-23AC-12D2-27340B2C3519}"/>
          </ac:picMkLst>
        </pc:picChg>
        <pc:picChg chg="add mod">
          <ac:chgData name="AJ Fabbri (S)" userId="411f0d52-f0e5-47fe-8e18-86da452dc1ef" providerId="ADAL" clId="{F66CFAF7-B289-5946-B9C9-1BE57A50AADA}" dt="2025-04-20T00:49:50.662" v="323" actId="1076"/>
          <ac:picMkLst>
            <pc:docMk/>
            <pc:sldMk cId="1769279954" sldId="272"/>
            <ac:picMk id="10" creationId="{368BA0F9-B0FE-C5A9-2747-C70A8E0AA168}"/>
          </ac:picMkLst>
        </pc:picChg>
        <pc:picChg chg="add del mod">
          <ac:chgData name="AJ Fabbri (S)" userId="411f0d52-f0e5-47fe-8e18-86da452dc1ef" providerId="ADAL" clId="{F66CFAF7-B289-5946-B9C9-1BE57A50AADA}" dt="2025-04-20T00:51:00.953" v="409" actId="21"/>
          <ac:picMkLst>
            <pc:docMk/>
            <pc:sldMk cId="1769279954" sldId="272"/>
            <ac:picMk id="12" creationId="{913A8B1D-298C-4CBA-C5D5-E7138965BE2B}"/>
          </ac:picMkLst>
        </pc:picChg>
        <pc:picChg chg="add mod">
          <ac:chgData name="AJ Fabbri (S)" userId="411f0d52-f0e5-47fe-8e18-86da452dc1ef" providerId="ADAL" clId="{F66CFAF7-B289-5946-B9C9-1BE57A50AADA}" dt="2025-04-20T00:51:26.482" v="446" actId="1076"/>
          <ac:picMkLst>
            <pc:docMk/>
            <pc:sldMk cId="1769279954" sldId="272"/>
            <ac:picMk id="15" creationId="{4ED27E7C-4273-37E2-9E23-D1CB72DDA69F}"/>
          </ac:picMkLst>
        </pc:picChg>
        <pc:picChg chg="add mod">
          <ac:chgData name="AJ Fabbri (S)" userId="411f0d52-f0e5-47fe-8e18-86da452dc1ef" providerId="ADAL" clId="{F66CFAF7-B289-5946-B9C9-1BE57A50AADA}" dt="2025-04-20T00:52:11.364" v="457" actId="1076"/>
          <ac:picMkLst>
            <pc:docMk/>
            <pc:sldMk cId="1769279954" sldId="272"/>
            <ac:picMk id="17" creationId="{F7027320-1FCE-F197-9CC5-A65457B234DD}"/>
          </ac:picMkLst>
        </pc:picChg>
      </pc:sldChg>
      <pc:sldChg chg="addSp delSp modSp new mod setBg">
        <pc:chgData name="AJ Fabbri (S)" userId="411f0d52-f0e5-47fe-8e18-86da452dc1ef" providerId="ADAL" clId="{F66CFAF7-B289-5946-B9C9-1BE57A50AADA}" dt="2025-04-20T01:35:34.091" v="3425" actId="14100"/>
        <pc:sldMkLst>
          <pc:docMk/>
          <pc:sldMk cId="170745397" sldId="273"/>
        </pc:sldMkLst>
        <pc:spChg chg="mod">
          <ac:chgData name="AJ Fabbri (S)" userId="411f0d52-f0e5-47fe-8e18-86da452dc1ef" providerId="ADAL" clId="{F66CFAF7-B289-5946-B9C9-1BE57A50AADA}" dt="2025-04-20T01:35:13.606" v="3422" actId="1076"/>
          <ac:spMkLst>
            <pc:docMk/>
            <pc:sldMk cId="170745397" sldId="273"/>
            <ac:spMk id="2" creationId="{8EE08CC5-075A-BD35-6CD5-DB4FA0EC3FF6}"/>
          </ac:spMkLst>
        </pc:spChg>
        <pc:spChg chg="add del mod">
          <ac:chgData name="AJ Fabbri (S)" userId="411f0d52-f0e5-47fe-8e18-86da452dc1ef" providerId="ADAL" clId="{F66CFAF7-B289-5946-B9C9-1BE57A50AADA}" dt="2025-04-20T01:26:26.700" v="3163" actId="26606"/>
          <ac:spMkLst>
            <pc:docMk/>
            <pc:sldMk cId="170745397" sldId="273"/>
            <ac:spMk id="3" creationId="{A2BD3231-D8D9-0203-1868-6262FCFD7C58}"/>
          </ac:spMkLst>
        </pc:spChg>
        <pc:spChg chg="add del">
          <ac:chgData name="AJ Fabbri (S)" userId="411f0d52-f0e5-47fe-8e18-86da452dc1ef" providerId="ADAL" clId="{F66CFAF7-B289-5946-B9C9-1BE57A50AADA}" dt="2025-04-20T01:26:24.796" v="3160" actId="26606"/>
          <ac:spMkLst>
            <pc:docMk/>
            <pc:sldMk cId="170745397" sldId="273"/>
            <ac:spMk id="9" creationId="{57908DE9-5647-483E-B731-49D34A839B3F}"/>
          </ac:spMkLst>
        </pc:spChg>
        <pc:spChg chg="add del">
          <ac:chgData name="AJ Fabbri (S)" userId="411f0d52-f0e5-47fe-8e18-86da452dc1ef" providerId="ADAL" clId="{F66CFAF7-B289-5946-B9C9-1BE57A50AADA}" dt="2025-04-20T01:26:24.796" v="3160" actId="26606"/>
          <ac:spMkLst>
            <pc:docMk/>
            <pc:sldMk cId="170745397" sldId="273"/>
            <ac:spMk id="11" creationId="{926962B4-5DCE-4745-A877-F7237DA68D7F}"/>
          </ac:spMkLst>
        </pc:spChg>
        <pc:spChg chg="add del">
          <ac:chgData name="AJ Fabbri (S)" userId="411f0d52-f0e5-47fe-8e18-86da452dc1ef" providerId="ADAL" clId="{F66CFAF7-B289-5946-B9C9-1BE57A50AADA}" dt="2025-04-20T01:26:24.796" v="3160" actId="26606"/>
          <ac:spMkLst>
            <pc:docMk/>
            <pc:sldMk cId="170745397" sldId="273"/>
            <ac:spMk id="13" creationId="{FFC31C6D-653C-4C57-B226-ED6CE571F611}"/>
          </ac:spMkLst>
        </pc:spChg>
        <pc:spChg chg="add del">
          <ac:chgData name="AJ Fabbri (S)" userId="411f0d52-f0e5-47fe-8e18-86da452dc1ef" providerId="ADAL" clId="{F66CFAF7-B289-5946-B9C9-1BE57A50AADA}" dt="2025-04-20T01:26:26.679" v="3162" actId="26606"/>
          <ac:spMkLst>
            <pc:docMk/>
            <pc:sldMk cId="170745397" sldId="273"/>
            <ac:spMk id="23" creationId="{57908DE9-5647-483E-B731-49D34A839B3F}"/>
          </ac:spMkLst>
        </pc:spChg>
        <pc:spChg chg="add del">
          <ac:chgData name="AJ Fabbri (S)" userId="411f0d52-f0e5-47fe-8e18-86da452dc1ef" providerId="ADAL" clId="{F66CFAF7-B289-5946-B9C9-1BE57A50AADA}" dt="2025-04-20T01:26:26.679" v="3162" actId="26606"/>
          <ac:spMkLst>
            <pc:docMk/>
            <pc:sldMk cId="170745397" sldId="273"/>
            <ac:spMk id="24" creationId="{926962B4-5DCE-4745-A877-F7237DA68D7F}"/>
          </ac:spMkLst>
        </pc:spChg>
        <pc:spChg chg="add del">
          <ac:chgData name="AJ Fabbri (S)" userId="411f0d52-f0e5-47fe-8e18-86da452dc1ef" providerId="ADAL" clId="{F66CFAF7-B289-5946-B9C9-1BE57A50AADA}" dt="2025-04-20T01:26:26.679" v="3162" actId="26606"/>
          <ac:spMkLst>
            <pc:docMk/>
            <pc:sldMk cId="170745397" sldId="273"/>
            <ac:spMk id="25" creationId="{FFC31C6D-653C-4C57-B226-ED6CE571F611}"/>
          </ac:spMkLst>
        </pc:spChg>
        <pc:spChg chg="add del">
          <ac:chgData name="AJ Fabbri (S)" userId="411f0d52-f0e5-47fe-8e18-86da452dc1ef" providerId="ADAL" clId="{F66CFAF7-B289-5946-B9C9-1BE57A50AADA}" dt="2025-04-20T01:34:51.734" v="3417" actId="26606"/>
          <ac:spMkLst>
            <pc:docMk/>
            <pc:sldMk cId="170745397" sldId="273"/>
            <ac:spMk id="35" creationId="{57908DE9-5647-483E-B731-49D34A839B3F}"/>
          </ac:spMkLst>
        </pc:spChg>
        <pc:spChg chg="add del">
          <ac:chgData name="AJ Fabbri (S)" userId="411f0d52-f0e5-47fe-8e18-86da452dc1ef" providerId="ADAL" clId="{F66CFAF7-B289-5946-B9C9-1BE57A50AADA}" dt="2025-04-20T01:34:51.734" v="3417" actId="26606"/>
          <ac:spMkLst>
            <pc:docMk/>
            <pc:sldMk cId="170745397" sldId="273"/>
            <ac:spMk id="36" creationId="{926962B4-5DCE-4745-A877-F7237DA68D7F}"/>
          </ac:spMkLst>
        </pc:spChg>
        <pc:spChg chg="add del">
          <ac:chgData name="AJ Fabbri (S)" userId="411f0d52-f0e5-47fe-8e18-86da452dc1ef" providerId="ADAL" clId="{F66CFAF7-B289-5946-B9C9-1BE57A50AADA}" dt="2025-04-20T01:34:51.734" v="3417" actId="26606"/>
          <ac:spMkLst>
            <pc:docMk/>
            <pc:sldMk cId="170745397" sldId="273"/>
            <ac:spMk id="37" creationId="{FFC31C6D-653C-4C57-B226-ED6CE571F611}"/>
          </ac:spMkLst>
        </pc:spChg>
        <pc:spChg chg="add del">
          <ac:chgData name="AJ Fabbri (S)" userId="411f0d52-f0e5-47fe-8e18-86da452dc1ef" providerId="ADAL" clId="{F66CFAF7-B289-5946-B9C9-1BE57A50AADA}" dt="2025-04-20T01:34:51.573" v="3416" actId="26606"/>
          <ac:spMkLst>
            <pc:docMk/>
            <pc:sldMk cId="170745397" sldId="273"/>
            <ac:spMk id="44" creationId="{137F52B3-08B4-4D76-BFE5-EC4413E49352}"/>
          </ac:spMkLst>
        </pc:spChg>
        <pc:spChg chg="add del">
          <ac:chgData name="AJ Fabbri (S)" userId="411f0d52-f0e5-47fe-8e18-86da452dc1ef" providerId="ADAL" clId="{F66CFAF7-B289-5946-B9C9-1BE57A50AADA}" dt="2025-04-20T01:34:51.573" v="3416" actId="26606"/>
          <ac:spMkLst>
            <pc:docMk/>
            <pc:sldMk cId="170745397" sldId="273"/>
            <ac:spMk id="46" creationId="{8EC157D4-C211-47CF-9526-9BC11484AF9C}"/>
          </ac:spMkLst>
        </pc:spChg>
        <pc:spChg chg="add">
          <ac:chgData name="AJ Fabbri (S)" userId="411f0d52-f0e5-47fe-8e18-86da452dc1ef" providerId="ADAL" clId="{F66CFAF7-B289-5946-B9C9-1BE57A50AADA}" dt="2025-04-20T01:34:51.734" v="3417" actId="26606"/>
          <ac:spMkLst>
            <pc:docMk/>
            <pc:sldMk cId="170745397" sldId="273"/>
            <ac:spMk id="57" creationId="{92663A72-E771-41D4-96AA-28C1B2172245}"/>
          </ac:spMkLst>
        </pc:spChg>
        <pc:spChg chg="add">
          <ac:chgData name="AJ Fabbri (S)" userId="411f0d52-f0e5-47fe-8e18-86da452dc1ef" providerId="ADAL" clId="{F66CFAF7-B289-5946-B9C9-1BE57A50AADA}" dt="2025-04-20T01:34:51.734" v="3417" actId="26606"/>
          <ac:spMkLst>
            <pc:docMk/>
            <pc:sldMk cId="170745397" sldId="273"/>
            <ac:spMk id="58" creationId="{88164F59-4B09-4DB4-A99F-97C71DE46B10}"/>
          </ac:spMkLst>
        </pc:spChg>
        <pc:spChg chg="add">
          <ac:chgData name="AJ Fabbri (S)" userId="411f0d52-f0e5-47fe-8e18-86da452dc1ef" providerId="ADAL" clId="{F66CFAF7-B289-5946-B9C9-1BE57A50AADA}" dt="2025-04-20T01:34:51.734" v="3417" actId="26606"/>
          <ac:spMkLst>
            <pc:docMk/>
            <pc:sldMk cId="170745397" sldId="273"/>
            <ac:spMk id="59" creationId="{6B336017-F12B-485C-B5E1-B6971DA0CDC5}"/>
          </ac:spMkLst>
        </pc:spChg>
        <pc:grpChg chg="add del">
          <ac:chgData name="AJ Fabbri (S)" userId="411f0d52-f0e5-47fe-8e18-86da452dc1ef" providerId="ADAL" clId="{F66CFAF7-B289-5946-B9C9-1BE57A50AADA}" dt="2025-04-20T01:26:24.796" v="3160" actId="26606"/>
          <ac:grpSpMkLst>
            <pc:docMk/>
            <pc:sldMk cId="170745397" sldId="273"/>
            <ac:grpSpMk id="15" creationId="{C310B041-3468-403A-926B-E3C1CF4433A2}"/>
          </ac:grpSpMkLst>
        </pc:grpChg>
        <pc:grpChg chg="add del">
          <ac:chgData name="AJ Fabbri (S)" userId="411f0d52-f0e5-47fe-8e18-86da452dc1ef" providerId="ADAL" clId="{F66CFAF7-B289-5946-B9C9-1BE57A50AADA}" dt="2025-04-20T01:26:26.679" v="3162" actId="26606"/>
          <ac:grpSpMkLst>
            <pc:docMk/>
            <pc:sldMk cId="170745397" sldId="273"/>
            <ac:grpSpMk id="26" creationId="{C310B041-3468-403A-926B-E3C1CF4433A2}"/>
          </ac:grpSpMkLst>
        </pc:grpChg>
        <pc:grpChg chg="add del">
          <ac:chgData name="AJ Fabbri (S)" userId="411f0d52-f0e5-47fe-8e18-86da452dc1ef" providerId="ADAL" clId="{F66CFAF7-B289-5946-B9C9-1BE57A50AADA}" dt="2025-04-20T01:34:51.734" v="3417" actId="26606"/>
          <ac:grpSpMkLst>
            <pc:docMk/>
            <pc:sldMk cId="170745397" sldId="273"/>
            <ac:grpSpMk id="38" creationId="{C310B041-3468-403A-926B-E3C1CF4433A2}"/>
          </ac:grpSpMkLst>
        </pc:grpChg>
        <pc:grpChg chg="add del">
          <ac:chgData name="AJ Fabbri (S)" userId="411f0d52-f0e5-47fe-8e18-86da452dc1ef" providerId="ADAL" clId="{F66CFAF7-B289-5946-B9C9-1BE57A50AADA}" dt="2025-04-20T01:34:51.573" v="3416" actId="26606"/>
          <ac:grpSpMkLst>
            <pc:docMk/>
            <pc:sldMk cId="170745397" sldId="273"/>
            <ac:grpSpMk id="48" creationId="{F086E6B5-2390-45BD-B5EA-EDF4B6461C8E}"/>
          </ac:grpSpMkLst>
        </pc:grpChg>
        <pc:grpChg chg="add">
          <ac:chgData name="AJ Fabbri (S)" userId="411f0d52-f0e5-47fe-8e18-86da452dc1ef" providerId="ADAL" clId="{F66CFAF7-B289-5946-B9C9-1BE57A50AADA}" dt="2025-04-20T01:34:51.734" v="3417" actId="26606"/>
          <ac:grpSpMkLst>
            <pc:docMk/>
            <pc:sldMk cId="170745397" sldId="273"/>
            <ac:grpSpMk id="60" creationId="{C2C078FA-5775-45CB-A8F3-53B3F1AD2B99}"/>
          </ac:grpSpMkLst>
        </pc:grpChg>
        <pc:graphicFrameChg chg="add del">
          <ac:chgData name="AJ Fabbri (S)" userId="411f0d52-f0e5-47fe-8e18-86da452dc1ef" providerId="ADAL" clId="{F66CFAF7-B289-5946-B9C9-1BE57A50AADA}" dt="2025-04-20T01:26:24.796" v="3160" actId="26606"/>
          <ac:graphicFrameMkLst>
            <pc:docMk/>
            <pc:sldMk cId="170745397" sldId="273"/>
            <ac:graphicFrameMk id="5" creationId="{940DF2B3-9461-72B1-4E5D-E1C8F3DBF2B6}"/>
          </ac:graphicFrameMkLst>
        </pc:graphicFrameChg>
        <pc:graphicFrameChg chg="add del">
          <ac:chgData name="AJ Fabbri (S)" userId="411f0d52-f0e5-47fe-8e18-86da452dc1ef" providerId="ADAL" clId="{F66CFAF7-B289-5946-B9C9-1BE57A50AADA}" dt="2025-04-20T01:26:26.679" v="3162" actId="26606"/>
          <ac:graphicFrameMkLst>
            <pc:docMk/>
            <pc:sldMk cId="170745397" sldId="273"/>
            <ac:graphicFrameMk id="33" creationId="{CA4BF0CC-59F2-8758-0E20-C1C7CD252312}"/>
          </ac:graphicFrameMkLst>
        </pc:graphicFrameChg>
        <pc:graphicFrameChg chg="add mod modGraphic">
          <ac:chgData name="AJ Fabbri (S)" userId="411f0d52-f0e5-47fe-8e18-86da452dc1ef" providerId="ADAL" clId="{F66CFAF7-B289-5946-B9C9-1BE57A50AADA}" dt="2025-04-20T01:35:34.091" v="3425" actId="14100"/>
          <ac:graphicFrameMkLst>
            <pc:docMk/>
            <pc:sldMk cId="170745397" sldId="273"/>
            <ac:graphicFrameMk id="39" creationId="{940DF2B3-9461-72B1-4E5D-E1C8F3DBF2B6}"/>
          </ac:graphicFrameMkLst>
        </pc:graphicFrameChg>
      </pc:sldChg>
      <pc:sldChg chg="addSp delSp modSp new mod setBg">
        <pc:chgData name="AJ Fabbri (S)" userId="411f0d52-f0e5-47fe-8e18-86da452dc1ef" providerId="ADAL" clId="{F66CFAF7-B289-5946-B9C9-1BE57A50AADA}" dt="2025-04-20T01:36:00.279" v="3429" actId="26606"/>
        <pc:sldMkLst>
          <pc:docMk/>
          <pc:sldMk cId="3689482259" sldId="274"/>
        </pc:sldMkLst>
        <pc:spChg chg="mod">
          <ac:chgData name="AJ Fabbri (S)" userId="411f0d52-f0e5-47fe-8e18-86da452dc1ef" providerId="ADAL" clId="{F66CFAF7-B289-5946-B9C9-1BE57A50AADA}" dt="2025-04-20T01:36:00.279" v="3429" actId="26606"/>
          <ac:spMkLst>
            <pc:docMk/>
            <pc:sldMk cId="3689482259" sldId="274"/>
            <ac:spMk id="2" creationId="{67D2E679-216D-039E-2E2F-34E067EB6F5F}"/>
          </ac:spMkLst>
        </pc:spChg>
        <pc:spChg chg="add del mod">
          <ac:chgData name="AJ Fabbri (S)" userId="411f0d52-f0e5-47fe-8e18-86da452dc1ef" providerId="ADAL" clId="{F66CFAF7-B289-5946-B9C9-1BE57A50AADA}" dt="2025-04-20T01:36:00.279" v="3429" actId="26606"/>
          <ac:spMkLst>
            <pc:docMk/>
            <pc:sldMk cId="3689482259" sldId="274"/>
            <ac:spMk id="3" creationId="{C0B0051A-0980-D818-06C6-32AEFFAC36CB}"/>
          </ac:spMkLst>
        </pc:spChg>
        <pc:spChg chg="add del">
          <ac:chgData name="AJ Fabbri (S)" userId="411f0d52-f0e5-47fe-8e18-86da452dc1ef" providerId="ADAL" clId="{F66CFAF7-B289-5946-B9C9-1BE57A50AADA}" dt="2025-04-20T01:36:00.279" v="3429" actId="26606"/>
          <ac:spMkLst>
            <pc:docMk/>
            <pc:sldMk cId="3689482259" sldId="274"/>
            <ac:spMk id="8" creationId="{ED16AD6D-7FC0-435B-AB5F-98DA2190C53C}"/>
          </ac:spMkLst>
        </pc:spChg>
        <pc:spChg chg="add del">
          <ac:chgData name="AJ Fabbri (S)" userId="411f0d52-f0e5-47fe-8e18-86da452dc1ef" providerId="ADAL" clId="{F66CFAF7-B289-5946-B9C9-1BE57A50AADA}" dt="2025-04-20T01:35:56.035" v="3427" actId="26606"/>
          <ac:spMkLst>
            <pc:docMk/>
            <pc:sldMk cId="3689482259" sldId="274"/>
            <ac:spMk id="9" creationId="{458183E0-58D3-4C7F-97F0-2494113B38F6}"/>
          </ac:spMkLst>
        </pc:spChg>
        <pc:spChg chg="add del">
          <ac:chgData name="AJ Fabbri (S)" userId="411f0d52-f0e5-47fe-8e18-86da452dc1ef" providerId="ADAL" clId="{F66CFAF7-B289-5946-B9C9-1BE57A50AADA}" dt="2025-04-20T01:36:00.279" v="3429" actId="26606"/>
          <ac:spMkLst>
            <pc:docMk/>
            <pc:sldMk cId="3689482259" sldId="274"/>
            <ac:spMk id="10" creationId="{28B727F3-FF58-4343-ACEE-2174D5989143}"/>
          </ac:spMkLst>
        </pc:spChg>
        <pc:spChg chg="add del">
          <ac:chgData name="AJ Fabbri (S)" userId="411f0d52-f0e5-47fe-8e18-86da452dc1ef" providerId="ADAL" clId="{F66CFAF7-B289-5946-B9C9-1BE57A50AADA}" dt="2025-04-20T01:35:56.035" v="3427" actId="26606"/>
          <ac:spMkLst>
            <pc:docMk/>
            <pc:sldMk cId="3689482259" sldId="274"/>
            <ac:spMk id="11" creationId="{493D7220-9A41-4B89-8A05-2E854925EDA1}"/>
          </ac:spMkLst>
        </pc:spChg>
        <pc:spChg chg="add del">
          <ac:chgData name="AJ Fabbri (S)" userId="411f0d52-f0e5-47fe-8e18-86da452dc1ef" providerId="ADAL" clId="{F66CFAF7-B289-5946-B9C9-1BE57A50AADA}" dt="2025-04-20T01:36:00.279" v="3429" actId="26606"/>
          <ac:spMkLst>
            <pc:docMk/>
            <pc:sldMk cId="3689482259" sldId="274"/>
            <ac:spMk id="25" creationId="{6832CB48-19E2-438E-B5D1-126B62284757}"/>
          </ac:spMkLst>
        </pc:spChg>
        <pc:spChg chg="add del">
          <ac:chgData name="AJ Fabbri (S)" userId="411f0d52-f0e5-47fe-8e18-86da452dc1ef" providerId="ADAL" clId="{F66CFAF7-B289-5946-B9C9-1BE57A50AADA}" dt="2025-04-20T01:36:00.279" v="3429" actId="26606"/>
          <ac:spMkLst>
            <pc:docMk/>
            <pc:sldMk cId="3689482259" sldId="274"/>
            <ac:spMk id="29" creationId="{F4B85B88-409F-4670-A4FF-5C58623B77AA}"/>
          </ac:spMkLst>
        </pc:spChg>
        <pc:spChg chg="add del">
          <ac:chgData name="AJ Fabbri (S)" userId="411f0d52-f0e5-47fe-8e18-86da452dc1ef" providerId="ADAL" clId="{F66CFAF7-B289-5946-B9C9-1BE57A50AADA}" dt="2025-04-20T01:36:00.279" v="3429" actId="26606"/>
          <ac:spMkLst>
            <pc:docMk/>
            <pc:sldMk cId="3689482259" sldId="274"/>
            <ac:spMk id="32" creationId="{5F7F20D7-57B2-4CF8-AF7D-90D6A5E1FF73}"/>
          </ac:spMkLst>
        </pc:spChg>
        <pc:spChg chg="add del">
          <ac:chgData name="AJ Fabbri (S)" userId="411f0d52-f0e5-47fe-8e18-86da452dc1ef" providerId="ADAL" clId="{F66CFAF7-B289-5946-B9C9-1BE57A50AADA}" dt="2025-04-20T01:36:00.279" v="3429" actId="26606"/>
          <ac:spMkLst>
            <pc:docMk/>
            <pc:sldMk cId="3689482259" sldId="274"/>
            <ac:spMk id="33" creationId="{52B7F1A1-8894-44DC-8FCC-6CE9F127AAB1}"/>
          </ac:spMkLst>
        </pc:spChg>
        <pc:grpChg chg="add del">
          <ac:chgData name="AJ Fabbri (S)" userId="411f0d52-f0e5-47fe-8e18-86da452dc1ef" providerId="ADAL" clId="{F66CFAF7-B289-5946-B9C9-1BE57A50AADA}" dt="2025-04-20T01:35:56.035" v="3427" actId="26606"/>
          <ac:grpSpMkLst>
            <pc:docMk/>
            <pc:sldMk cId="3689482259" sldId="274"/>
            <ac:grpSpMk id="13" creationId="{9215E110-AB5D-437B-9906-4A431F695EDF}"/>
          </ac:grpSpMkLst>
        </pc:grpChg>
        <pc:graphicFrameChg chg="add del">
          <ac:chgData name="AJ Fabbri (S)" userId="411f0d52-f0e5-47fe-8e18-86da452dc1ef" providerId="ADAL" clId="{F66CFAF7-B289-5946-B9C9-1BE57A50AADA}" dt="2025-04-20T01:35:56.035" v="3427" actId="26606"/>
          <ac:graphicFrameMkLst>
            <pc:docMk/>
            <pc:sldMk cId="3689482259" sldId="274"/>
            <ac:graphicFrameMk id="5" creationId="{D56E3AA3-EE09-A908-D70B-9E5A2D0B6F00}"/>
          </ac:graphicFrameMkLst>
        </pc:graphicFrameChg>
        <pc:picChg chg="add del">
          <ac:chgData name="AJ Fabbri (S)" userId="411f0d52-f0e5-47fe-8e18-86da452dc1ef" providerId="ADAL" clId="{F66CFAF7-B289-5946-B9C9-1BE57A50AADA}" dt="2025-04-20T01:36:00.279" v="3429" actId="26606"/>
          <ac:picMkLst>
            <pc:docMk/>
            <pc:sldMk cId="3689482259" sldId="274"/>
            <ac:picMk id="23" creationId="{05AC83E9-3498-4F8F-84F8-2E22FE72E30C}"/>
          </ac:picMkLst>
        </pc:picChg>
        <pc:picChg chg="add del">
          <ac:chgData name="AJ Fabbri (S)" userId="411f0d52-f0e5-47fe-8e18-86da452dc1ef" providerId="ADAL" clId="{F66CFAF7-B289-5946-B9C9-1BE57A50AADA}" dt="2025-04-20T01:36:00.279" v="3429" actId="26606"/>
          <ac:picMkLst>
            <pc:docMk/>
            <pc:sldMk cId="3689482259" sldId="274"/>
            <ac:picMk id="31" creationId="{66265FF8-949A-452A-882B-BDD332090013}"/>
          </ac:picMkLst>
        </pc:picChg>
      </pc:sldChg>
      <pc:sldChg chg="addSp delSp modSp new mod">
        <pc:chgData name="AJ Fabbri (S)" userId="411f0d52-f0e5-47fe-8e18-86da452dc1ef" providerId="ADAL" clId="{F66CFAF7-B289-5946-B9C9-1BE57A50AADA}" dt="2025-04-20T01:22:48.763" v="2815" actId="20577"/>
        <pc:sldMkLst>
          <pc:docMk/>
          <pc:sldMk cId="3440315361" sldId="275"/>
        </pc:sldMkLst>
        <pc:spChg chg="mod">
          <ac:chgData name="AJ Fabbri (S)" userId="411f0d52-f0e5-47fe-8e18-86da452dc1ef" providerId="ADAL" clId="{F66CFAF7-B289-5946-B9C9-1BE57A50AADA}" dt="2025-04-20T01:16:54.291" v="2580" actId="20577"/>
          <ac:spMkLst>
            <pc:docMk/>
            <pc:sldMk cId="3440315361" sldId="275"/>
            <ac:spMk id="2" creationId="{246008DB-9E86-7A65-FB0C-408423B3F3AC}"/>
          </ac:spMkLst>
        </pc:spChg>
        <pc:spChg chg="del mod">
          <ac:chgData name="AJ Fabbri (S)" userId="411f0d52-f0e5-47fe-8e18-86da452dc1ef" providerId="ADAL" clId="{F66CFAF7-B289-5946-B9C9-1BE57A50AADA}" dt="2025-04-20T01:19:18.669" v="2584" actId="478"/>
          <ac:spMkLst>
            <pc:docMk/>
            <pc:sldMk cId="3440315361" sldId="275"/>
            <ac:spMk id="3" creationId="{4DCD41FD-7CD1-C342-6FE1-296E3706C9CA}"/>
          </ac:spMkLst>
        </pc:spChg>
        <pc:spChg chg="del">
          <ac:chgData name="AJ Fabbri (S)" userId="411f0d52-f0e5-47fe-8e18-86da452dc1ef" providerId="ADAL" clId="{F66CFAF7-B289-5946-B9C9-1BE57A50AADA}" dt="2025-04-20T01:19:15.953" v="2581"/>
          <ac:spMkLst>
            <pc:docMk/>
            <pc:sldMk cId="3440315361" sldId="275"/>
            <ac:spMk id="4" creationId="{F8037BD3-D4BC-9435-F45C-BEDF259F3673}"/>
          </ac:spMkLst>
        </pc:spChg>
        <pc:spChg chg="add del mod">
          <ac:chgData name="AJ Fabbri (S)" userId="411f0d52-f0e5-47fe-8e18-86da452dc1ef" providerId="ADAL" clId="{F66CFAF7-B289-5946-B9C9-1BE57A50AADA}" dt="2025-04-20T01:19:45.303" v="2588"/>
          <ac:spMkLst>
            <pc:docMk/>
            <pc:sldMk cId="3440315361" sldId="275"/>
            <ac:spMk id="8" creationId="{97B3FB79-2B56-B90F-A76E-9DEB08834ED6}"/>
          </ac:spMkLst>
        </pc:spChg>
        <pc:spChg chg="add mod">
          <ac:chgData name="AJ Fabbri (S)" userId="411f0d52-f0e5-47fe-8e18-86da452dc1ef" providerId="ADAL" clId="{F66CFAF7-B289-5946-B9C9-1BE57A50AADA}" dt="2025-04-20T01:22:48.763" v="2815" actId="20577"/>
          <ac:spMkLst>
            <pc:docMk/>
            <pc:sldMk cId="3440315361" sldId="275"/>
            <ac:spMk id="11" creationId="{F264CFA6-EAB8-3C76-B3AD-07DF351850EB}"/>
          </ac:spMkLst>
        </pc:spChg>
        <pc:picChg chg="add del mod">
          <ac:chgData name="AJ Fabbri (S)" userId="411f0d52-f0e5-47fe-8e18-86da452dc1ef" providerId="ADAL" clId="{F66CFAF7-B289-5946-B9C9-1BE57A50AADA}" dt="2025-04-20T01:19:35.279" v="2587" actId="478"/>
          <ac:picMkLst>
            <pc:docMk/>
            <pc:sldMk cId="3440315361" sldId="275"/>
            <ac:picMk id="6" creationId="{6259418A-D385-3218-015D-966656DDE44E}"/>
          </ac:picMkLst>
        </pc:picChg>
        <pc:picChg chg="add mod">
          <ac:chgData name="AJ Fabbri (S)" userId="411f0d52-f0e5-47fe-8e18-86da452dc1ef" providerId="ADAL" clId="{F66CFAF7-B289-5946-B9C9-1BE57A50AADA}" dt="2025-04-20T01:19:52.998" v="2592" actId="14100"/>
          <ac:picMkLst>
            <pc:docMk/>
            <pc:sldMk cId="3440315361" sldId="275"/>
            <ac:picMk id="10" creationId="{6AD9DFF2-E572-2002-B3EC-B09D46784F76}"/>
          </ac:picMkLst>
        </pc:picChg>
      </pc:sldChg>
      <pc:sldChg chg="addSp modSp new mod modNotesTx">
        <pc:chgData name="AJ Fabbri (S)" userId="411f0d52-f0e5-47fe-8e18-86da452dc1ef" providerId="ADAL" clId="{F66CFAF7-B289-5946-B9C9-1BE57A50AADA}" dt="2025-04-20T01:29:52.979" v="3405" actId="14100"/>
        <pc:sldMkLst>
          <pc:docMk/>
          <pc:sldMk cId="1081528912" sldId="276"/>
        </pc:sldMkLst>
        <pc:spChg chg="mod">
          <ac:chgData name="AJ Fabbri (S)" userId="411f0d52-f0e5-47fe-8e18-86da452dc1ef" providerId="ADAL" clId="{F66CFAF7-B289-5946-B9C9-1BE57A50AADA}" dt="2025-04-20T01:24:28.067" v="2828" actId="20577"/>
          <ac:spMkLst>
            <pc:docMk/>
            <pc:sldMk cId="1081528912" sldId="276"/>
            <ac:spMk id="2" creationId="{9B3B6774-17F8-ED80-BC27-E52A160436CE}"/>
          </ac:spMkLst>
        </pc:spChg>
        <pc:spChg chg="mod">
          <ac:chgData name="AJ Fabbri (S)" userId="411f0d52-f0e5-47fe-8e18-86da452dc1ef" providerId="ADAL" clId="{F66CFAF7-B289-5946-B9C9-1BE57A50AADA}" dt="2025-04-20T01:28:46.292" v="3394" actId="404"/>
          <ac:spMkLst>
            <pc:docMk/>
            <pc:sldMk cId="1081528912" sldId="276"/>
            <ac:spMk id="3" creationId="{0E536157-80C7-266E-D995-4AB5F9ADEB93}"/>
          </ac:spMkLst>
        </pc:spChg>
        <pc:picChg chg="add mod">
          <ac:chgData name="AJ Fabbri (S)" userId="411f0d52-f0e5-47fe-8e18-86da452dc1ef" providerId="ADAL" clId="{F66CFAF7-B289-5946-B9C9-1BE57A50AADA}" dt="2025-04-20T01:29:52.979" v="3405" actId="14100"/>
          <ac:picMkLst>
            <pc:docMk/>
            <pc:sldMk cId="1081528912" sldId="276"/>
            <ac:picMk id="1026" creationId="{E6012EAA-942B-BC13-9587-313187BFB8ED}"/>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Alpha</c:v>
                </c:pt>
              </c:strCache>
            </c:strRef>
          </c:tx>
          <c:spPr>
            <a:solidFill>
              <a:schemeClr val="accent1"/>
            </a:solidFill>
            <a:ln>
              <a:noFill/>
            </a:ln>
            <a:effectLst/>
          </c:spPr>
          <c:invertIfNegative val="0"/>
          <c:cat>
            <c:strRef>
              <c:f>Sheet1!$A$2:$A$3</c:f>
              <c:strCache>
                <c:ptCount val="2"/>
                <c:pt idx="0">
                  <c:v>Tech Only</c:v>
                </c:pt>
                <c:pt idx="1">
                  <c:v>With Factors</c:v>
                </c:pt>
              </c:strCache>
            </c:strRef>
          </c:cat>
          <c:val>
            <c:numRef>
              <c:f>Sheet1!$B$2:$B$3</c:f>
              <c:numCache>
                <c:formatCode>General</c:formatCode>
                <c:ptCount val="2"/>
                <c:pt idx="0">
                  <c:v>-17.850000000000001</c:v>
                </c:pt>
                <c:pt idx="1">
                  <c:v>30.58</c:v>
                </c:pt>
              </c:numCache>
            </c:numRef>
          </c:val>
          <c:extLst>
            <c:ext xmlns:c16="http://schemas.microsoft.com/office/drawing/2014/chart" uri="{C3380CC4-5D6E-409C-BE32-E72D297353CC}">
              <c16:uniqueId val="{00000000-A236-E641-AF92-E10959B9A9D7}"/>
            </c:ext>
          </c:extLst>
        </c:ser>
        <c:dLbls>
          <c:showLegendKey val="0"/>
          <c:showVal val="0"/>
          <c:showCatName val="0"/>
          <c:showSerName val="0"/>
          <c:showPercent val="0"/>
          <c:showBubbleSize val="0"/>
        </c:dLbls>
        <c:gapWidth val="150"/>
        <c:overlap val="100"/>
        <c:axId val="1347237983"/>
        <c:axId val="1041218127"/>
      </c:barChart>
      <c:catAx>
        <c:axId val="13472379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5"/>
                </a:solidFill>
                <a:effectLst/>
                <a:latin typeface="+mn-lt"/>
                <a:ea typeface="+mn-ea"/>
                <a:cs typeface="+mn-cs"/>
              </a:defRPr>
            </a:pPr>
            <a:endParaRPr lang="en-US"/>
          </a:p>
        </c:txPr>
        <c:crossAx val="1041218127"/>
        <c:crosses val="autoZero"/>
        <c:auto val="1"/>
        <c:lblAlgn val="ctr"/>
        <c:lblOffset val="100"/>
        <c:noMultiLvlLbl val="0"/>
      </c:catAx>
      <c:valAx>
        <c:axId val="10412181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472379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5D5C05-7B3F-403A-AE40-B01082D16334}"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F2BFAAED-6CB9-4CA0-BC32-EC7CFE8A96F6}">
      <dgm:prSet/>
      <dgm:spPr/>
      <dgm:t>
        <a:bodyPr/>
        <a:lstStyle/>
        <a:p>
          <a:r>
            <a:rPr lang="en-US" dirty="0"/>
            <a:t>1. Gather &amp; normalize data</a:t>
          </a:r>
        </a:p>
      </dgm:t>
    </dgm:pt>
    <dgm:pt modelId="{663B9C33-523C-463D-9975-4C6E746CCF86}" type="parTrans" cxnId="{FB41D6E8-0AE5-499E-A2B4-C7102D2E1E5E}">
      <dgm:prSet/>
      <dgm:spPr/>
      <dgm:t>
        <a:bodyPr/>
        <a:lstStyle/>
        <a:p>
          <a:endParaRPr lang="en-US"/>
        </a:p>
      </dgm:t>
    </dgm:pt>
    <dgm:pt modelId="{3DE96D5E-B2FA-48F5-AADF-EDC5FE111BED}" type="sibTrans" cxnId="{FB41D6E8-0AE5-499E-A2B4-C7102D2E1E5E}">
      <dgm:prSet/>
      <dgm:spPr/>
      <dgm:t>
        <a:bodyPr/>
        <a:lstStyle/>
        <a:p>
          <a:endParaRPr lang="en-US"/>
        </a:p>
      </dgm:t>
    </dgm:pt>
    <dgm:pt modelId="{7EA49DC6-2B5C-42C0-9C5C-CAD194AC0C8E}">
      <dgm:prSet/>
      <dgm:spPr/>
      <dgm:t>
        <a:bodyPr/>
        <a:lstStyle/>
        <a:p>
          <a:r>
            <a:rPr lang="en-US" dirty="0"/>
            <a:t>2. Train technical vs. factor‑augmented LSTM</a:t>
          </a:r>
        </a:p>
      </dgm:t>
    </dgm:pt>
    <dgm:pt modelId="{D2944EC1-ADDA-4266-83C3-755382047CAB}" type="parTrans" cxnId="{BD2D50D2-E48B-4308-88BC-BBF54BF025FD}">
      <dgm:prSet/>
      <dgm:spPr/>
      <dgm:t>
        <a:bodyPr/>
        <a:lstStyle/>
        <a:p>
          <a:endParaRPr lang="en-US"/>
        </a:p>
      </dgm:t>
    </dgm:pt>
    <dgm:pt modelId="{5BA9B643-A5AC-4EE8-A7CD-5BE8260A9CC1}" type="sibTrans" cxnId="{BD2D50D2-E48B-4308-88BC-BBF54BF025FD}">
      <dgm:prSet/>
      <dgm:spPr/>
      <dgm:t>
        <a:bodyPr/>
        <a:lstStyle/>
        <a:p>
          <a:endParaRPr lang="en-US"/>
        </a:p>
      </dgm:t>
    </dgm:pt>
    <dgm:pt modelId="{AC54E672-AE07-4EC0-B5C3-A990B83D6F50}">
      <dgm:prSet/>
      <dgm:spPr/>
      <dgm:t>
        <a:bodyPr/>
        <a:lstStyle/>
        <a:p>
          <a:r>
            <a:rPr lang="en-US" dirty="0"/>
            <a:t>3. Predict next 5‑day Close</a:t>
          </a:r>
        </a:p>
      </dgm:t>
    </dgm:pt>
    <dgm:pt modelId="{77869DE7-4CE5-4A7A-8451-359238435C04}" type="parTrans" cxnId="{519BE65A-3FCD-4BE9-9656-6E92C534E0D4}">
      <dgm:prSet/>
      <dgm:spPr/>
      <dgm:t>
        <a:bodyPr/>
        <a:lstStyle/>
        <a:p>
          <a:endParaRPr lang="en-US"/>
        </a:p>
      </dgm:t>
    </dgm:pt>
    <dgm:pt modelId="{BAE50D0A-8989-425B-8B7E-2EBE1AD9B9CA}" type="sibTrans" cxnId="{519BE65A-3FCD-4BE9-9656-6E92C534E0D4}">
      <dgm:prSet/>
      <dgm:spPr/>
      <dgm:t>
        <a:bodyPr/>
        <a:lstStyle/>
        <a:p>
          <a:endParaRPr lang="en-US"/>
        </a:p>
      </dgm:t>
    </dgm:pt>
    <dgm:pt modelId="{407DB641-1FB8-44CD-B270-FC3ECAD2852A}">
      <dgm:prSet/>
      <dgm:spPr/>
      <dgm:t>
        <a:bodyPr/>
        <a:lstStyle/>
        <a:p>
          <a:r>
            <a:rPr lang="en-US" dirty="0"/>
            <a:t>4. </a:t>
          </a:r>
          <a:r>
            <a:rPr lang="en-US" dirty="0" err="1"/>
            <a:t>Backtest</a:t>
          </a:r>
          <a:r>
            <a:rPr lang="en-US" dirty="0"/>
            <a:t> signals</a:t>
          </a:r>
        </a:p>
      </dgm:t>
    </dgm:pt>
    <dgm:pt modelId="{64F7D6F8-1942-4888-8D8D-E625E83C2AA6}" type="parTrans" cxnId="{F08F3E7D-D786-4067-9454-3BC8C2B8CD7D}">
      <dgm:prSet/>
      <dgm:spPr/>
      <dgm:t>
        <a:bodyPr/>
        <a:lstStyle/>
        <a:p>
          <a:endParaRPr lang="en-US"/>
        </a:p>
      </dgm:t>
    </dgm:pt>
    <dgm:pt modelId="{E8900745-B369-4481-8972-B3E32F067C58}" type="sibTrans" cxnId="{F08F3E7D-D786-4067-9454-3BC8C2B8CD7D}">
      <dgm:prSet/>
      <dgm:spPr/>
      <dgm:t>
        <a:bodyPr/>
        <a:lstStyle/>
        <a:p>
          <a:endParaRPr lang="en-US"/>
        </a:p>
      </dgm:t>
    </dgm:pt>
    <dgm:pt modelId="{B98465F3-CF02-4935-8C4F-412186202551}">
      <dgm:prSet/>
      <dgm:spPr/>
      <dgm:t>
        <a:bodyPr/>
        <a:lstStyle/>
        <a:p>
          <a:r>
            <a:rPr lang="en-US" dirty="0"/>
            <a:t>5. Evaluate alpha, Sharpe, error metrics</a:t>
          </a:r>
        </a:p>
      </dgm:t>
    </dgm:pt>
    <dgm:pt modelId="{EAA1CC9A-4600-4116-A9DA-971EA64C7C10}" type="parTrans" cxnId="{AE586970-34B3-4DAE-A9FE-9776E6E82410}">
      <dgm:prSet/>
      <dgm:spPr/>
      <dgm:t>
        <a:bodyPr/>
        <a:lstStyle/>
        <a:p>
          <a:endParaRPr lang="en-US"/>
        </a:p>
      </dgm:t>
    </dgm:pt>
    <dgm:pt modelId="{B9667756-D59B-4B74-A632-6D98496122E6}" type="sibTrans" cxnId="{AE586970-34B3-4DAE-A9FE-9776E6E82410}">
      <dgm:prSet/>
      <dgm:spPr/>
      <dgm:t>
        <a:bodyPr/>
        <a:lstStyle/>
        <a:p>
          <a:endParaRPr lang="en-US"/>
        </a:p>
      </dgm:t>
    </dgm:pt>
    <dgm:pt modelId="{FEF674F7-3187-4000-9856-E1E7A21A1E15}">
      <dgm:prSet/>
      <dgm:spPr/>
      <dgm:t>
        <a:bodyPr/>
        <a:lstStyle/>
        <a:p>
          <a:r>
            <a:rPr lang="en-US"/>
            <a:t>Descriptive statistics</a:t>
          </a:r>
        </a:p>
      </dgm:t>
    </dgm:pt>
    <dgm:pt modelId="{266C18AC-5B88-478A-B328-DCDF847948D9}" type="parTrans" cxnId="{7373B45F-0F5E-4DD4-BF86-76FFBEAB3D51}">
      <dgm:prSet/>
      <dgm:spPr/>
      <dgm:t>
        <a:bodyPr/>
        <a:lstStyle/>
        <a:p>
          <a:endParaRPr lang="en-US"/>
        </a:p>
      </dgm:t>
    </dgm:pt>
    <dgm:pt modelId="{10E83083-6A4D-42DC-89BE-A3D25F5AA8CE}" type="sibTrans" cxnId="{7373B45F-0F5E-4DD4-BF86-76FFBEAB3D51}">
      <dgm:prSet/>
      <dgm:spPr/>
      <dgm:t>
        <a:bodyPr/>
        <a:lstStyle/>
        <a:p>
          <a:endParaRPr lang="en-US"/>
        </a:p>
      </dgm:t>
    </dgm:pt>
    <dgm:pt modelId="{1C19A64C-CD83-49E4-B854-2A2DC9520DEE}">
      <dgm:prSet/>
      <dgm:spPr/>
      <dgm:t>
        <a:bodyPr/>
        <a:lstStyle/>
        <a:p>
          <a:r>
            <a:rPr lang="en-US"/>
            <a:t>ANOVA and t-tests across categories</a:t>
          </a:r>
        </a:p>
      </dgm:t>
    </dgm:pt>
    <dgm:pt modelId="{85B1CEF2-4E2C-40CA-82F8-5B87C6512771}" type="parTrans" cxnId="{4A8D6A4F-B33A-4D6A-99AE-7E5EBA87CA81}">
      <dgm:prSet/>
      <dgm:spPr/>
      <dgm:t>
        <a:bodyPr/>
        <a:lstStyle/>
        <a:p>
          <a:endParaRPr lang="en-US"/>
        </a:p>
      </dgm:t>
    </dgm:pt>
    <dgm:pt modelId="{9C281D24-3043-4B41-8FD0-2CFA019F3FB3}" type="sibTrans" cxnId="{4A8D6A4F-B33A-4D6A-99AE-7E5EBA87CA81}">
      <dgm:prSet/>
      <dgm:spPr/>
      <dgm:t>
        <a:bodyPr/>
        <a:lstStyle/>
        <a:p>
          <a:endParaRPr lang="en-US"/>
        </a:p>
      </dgm:t>
    </dgm:pt>
    <dgm:pt modelId="{096D09A3-7103-4DC7-916F-71B4EABF7786}">
      <dgm:prSet/>
      <dgm:spPr/>
      <dgm:t>
        <a:bodyPr/>
        <a:lstStyle/>
        <a:p>
          <a:r>
            <a:rPr lang="en-US"/>
            <a:t>Categorical regression with Alpha as DV</a:t>
          </a:r>
        </a:p>
      </dgm:t>
    </dgm:pt>
    <dgm:pt modelId="{DD0D907A-D04C-4445-8E52-18E21F3C226C}" type="parTrans" cxnId="{6FDF9532-EBB2-4320-8AA9-F762112E68CD}">
      <dgm:prSet/>
      <dgm:spPr/>
      <dgm:t>
        <a:bodyPr/>
        <a:lstStyle/>
        <a:p>
          <a:endParaRPr lang="en-US"/>
        </a:p>
      </dgm:t>
    </dgm:pt>
    <dgm:pt modelId="{7119EFF0-AF9F-463A-8AF5-84422DCE541C}" type="sibTrans" cxnId="{6FDF9532-EBB2-4320-8AA9-F762112E68CD}">
      <dgm:prSet/>
      <dgm:spPr/>
      <dgm:t>
        <a:bodyPr/>
        <a:lstStyle/>
        <a:p>
          <a:endParaRPr lang="en-US"/>
        </a:p>
      </dgm:t>
    </dgm:pt>
    <dgm:pt modelId="{29A6DB66-68F2-0C4C-9622-7FA8162A7925}" type="pres">
      <dgm:prSet presAssocID="{FD5D5C05-7B3F-403A-AE40-B01082D16334}" presName="linear" presStyleCnt="0">
        <dgm:presLayoutVars>
          <dgm:animLvl val="lvl"/>
          <dgm:resizeHandles val="exact"/>
        </dgm:presLayoutVars>
      </dgm:prSet>
      <dgm:spPr/>
    </dgm:pt>
    <dgm:pt modelId="{1FD2DC41-C870-534A-8EFB-1D2920167D77}" type="pres">
      <dgm:prSet presAssocID="{F2BFAAED-6CB9-4CA0-BC32-EC7CFE8A96F6}" presName="parentText" presStyleLbl="node1" presStyleIdx="0" presStyleCnt="5">
        <dgm:presLayoutVars>
          <dgm:chMax val="0"/>
          <dgm:bulletEnabled val="1"/>
        </dgm:presLayoutVars>
      </dgm:prSet>
      <dgm:spPr/>
    </dgm:pt>
    <dgm:pt modelId="{08ACB569-A1F3-4A4C-AD24-969611A537C9}" type="pres">
      <dgm:prSet presAssocID="{3DE96D5E-B2FA-48F5-AADF-EDC5FE111BED}" presName="spacer" presStyleCnt="0"/>
      <dgm:spPr/>
    </dgm:pt>
    <dgm:pt modelId="{0C504390-763D-394F-BBE4-E65A293F06A8}" type="pres">
      <dgm:prSet presAssocID="{7EA49DC6-2B5C-42C0-9C5C-CAD194AC0C8E}" presName="parentText" presStyleLbl="node1" presStyleIdx="1" presStyleCnt="5">
        <dgm:presLayoutVars>
          <dgm:chMax val="0"/>
          <dgm:bulletEnabled val="1"/>
        </dgm:presLayoutVars>
      </dgm:prSet>
      <dgm:spPr/>
    </dgm:pt>
    <dgm:pt modelId="{08F3B752-F9EB-474C-A732-7B467F432F49}" type="pres">
      <dgm:prSet presAssocID="{5BA9B643-A5AC-4EE8-A7CD-5BE8260A9CC1}" presName="spacer" presStyleCnt="0"/>
      <dgm:spPr/>
    </dgm:pt>
    <dgm:pt modelId="{31CC0763-BAA0-2749-B313-F57C87C3F21A}" type="pres">
      <dgm:prSet presAssocID="{AC54E672-AE07-4EC0-B5C3-A990B83D6F50}" presName="parentText" presStyleLbl="node1" presStyleIdx="2" presStyleCnt="5">
        <dgm:presLayoutVars>
          <dgm:chMax val="0"/>
          <dgm:bulletEnabled val="1"/>
        </dgm:presLayoutVars>
      </dgm:prSet>
      <dgm:spPr/>
    </dgm:pt>
    <dgm:pt modelId="{103EAA2F-A2B0-5A41-ADDE-563BD840333D}" type="pres">
      <dgm:prSet presAssocID="{BAE50D0A-8989-425B-8B7E-2EBE1AD9B9CA}" presName="spacer" presStyleCnt="0"/>
      <dgm:spPr/>
    </dgm:pt>
    <dgm:pt modelId="{E9A3700B-F972-EC49-A8F2-3C9EA2D7AD1F}" type="pres">
      <dgm:prSet presAssocID="{407DB641-1FB8-44CD-B270-FC3ECAD2852A}" presName="parentText" presStyleLbl="node1" presStyleIdx="3" presStyleCnt="5">
        <dgm:presLayoutVars>
          <dgm:chMax val="0"/>
          <dgm:bulletEnabled val="1"/>
        </dgm:presLayoutVars>
      </dgm:prSet>
      <dgm:spPr/>
    </dgm:pt>
    <dgm:pt modelId="{E47C6774-72D9-7A41-AC5F-43DE9DFCED34}" type="pres">
      <dgm:prSet presAssocID="{E8900745-B369-4481-8972-B3E32F067C58}" presName="spacer" presStyleCnt="0"/>
      <dgm:spPr/>
    </dgm:pt>
    <dgm:pt modelId="{EB947782-3004-A14F-BF38-3687DB11B343}" type="pres">
      <dgm:prSet presAssocID="{B98465F3-CF02-4935-8C4F-412186202551}" presName="parentText" presStyleLbl="node1" presStyleIdx="4" presStyleCnt="5">
        <dgm:presLayoutVars>
          <dgm:chMax val="0"/>
          <dgm:bulletEnabled val="1"/>
        </dgm:presLayoutVars>
      </dgm:prSet>
      <dgm:spPr/>
    </dgm:pt>
    <dgm:pt modelId="{A392E29D-34F4-9045-A033-BEAA50C55B9E}" type="pres">
      <dgm:prSet presAssocID="{B98465F3-CF02-4935-8C4F-412186202551}" presName="childText" presStyleLbl="revTx" presStyleIdx="0" presStyleCnt="1">
        <dgm:presLayoutVars>
          <dgm:bulletEnabled val="1"/>
        </dgm:presLayoutVars>
      </dgm:prSet>
      <dgm:spPr/>
    </dgm:pt>
  </dgm:ptLst>
  <dgm:cxnLst>
    <dgm:cxn modelId="{7FA4F90E-A9F7-F448-89A0-62F5816B14E3}" type="presOf" srcId="{096D09A3-7103-4DC7-916F-71B4EABF7786}" destId="{A392E29D-34F4-9045-A033-BEAA50C55B9E}" srcOrd="0" destOrd="2" presId="urn:microsoft.com/office/officeart/2005/8/layout/vList2"/>
    <dgm:cxn modelId="{6FDF9532-EBB2-4320-8AA9-F762112E68CD}" srcId="{B98465F3-CF02-4935-8C4F-412186202551}" destId="{096D09A3-7103-4DC7-916F-71B4EABF7786}" srcOrd="2" destOrd="0" parTransId="{DD0D907A-D04C-4445-8E52-18E21F3C226C}" sibTransId="{7119EFF0-AF9F-463A-8AF5-84422DCE541C}"/>
    <dgm:cxn modelId="{FF13BF3D-F363-E646-8D7B-CE39338A91D1}" type="presOf" srcId="{AC54E672-AE07-4EC0-B5C3-A990B83D6F50}" destId="{31CC0763-BAA0-2749-B313-F57C87C3F21A}" srcOrd="0" destOrd="0" presId="urn:microsoft.com/office/officeart/2005/8/layout/vList2"/>
    <dgm:cxn modelId="{4A8D6A4F-B33A-4D6A-99AE-7E5EBA87CA81}" srcId="{B98465F3-CF02-4935-8C4F-412186202551}" destId="{1C19A64C-CD83-49E4-B854-2A2DC9520DEE}" srcOrd="1" destOrd="0" parTransId="{85B1CEF2-4E2C-40CA-82F8-5B87C6512771}" sibTransId="{9C281D24-3043-4B41-8FD0-2CFA019F3FB3}"/>
    <dgm:cxn modelId="{8FA00250-D15B-6B4F-A471-5A3E8296E9B2}" type="presOf" srcId="{FEF674F7-3187-4000-9856-E1E7A21A1E15}" destId="{A392E29D-34F4-9045-A033-BEAA50C55B9E}" srcOrd="0" destOrd="0" presId="urn:microsoft.com/office/officeart/2005/8/layout/vList2"/>
    <dgm:cxn modelId="{F88D8A53-B5F1-9745-8DFD-78E0D3EB8099}" type="presOf" srcId="{407DB641-1FB8-44CD-B270-FC3ECAD2852A}" destId="{E9A3700B-F972-EC49-A8F2-3C9EA2D7AD1F}" srcOrd="0" destOrd="0" presId="urn:microsoft.com/office/officeart/2005/8/layout/vList2"/>
    <dgm:cxn modelId="{519BE65A-3FCD-4BE9-9656-6E92C534E0D4}" srcId="{FD5D5C05-7B3F-403A-AE40-B01082D16334}" destId="{AC54E672-AE07-4EC0-B5C3-A990B83D6F50}" srcOrd="2" destOrd="0" parTransId="{77869DE7-4CE5-4A7A-8451-359238435C04}" sibTransId="{BAE50D0A-8989-425B-8B7E-2EBE1AD9B9CA}"/>
    <dgm:cxn modelId="{7373B45F-0F5E-4DD4-BF86-76FFBEAB3D51}" srcId="{B98465F3-CF02-4935-8C4F-412186202551}" destId="{FEF674F7-3187-4000-9856-E1E7A21A1E15}" srcOrd="0" destOrd="0" parTransId="{266C18AC-5B88-478A-B328-DCDF847948D9}" sibTransId="{10E83083-6A4D-42DC-89BE-A3D25F5AA8CE}"/>
    <dgm:cxn modelId="{AE586970-34B3-4DAE-A9FE-9776E6E82410}" srcId="{FD5D5C05-7B3F-403A-AE40-B01082D16334}" destId="{B98465F3-CF02-4935-8C4F-412186202551}" srcOrd="4" destOrd="0" parTransId="{EAA1CC9A-4600-4116-A9DA-971EA64C7C10}" sibTransId="{B9667756-D59B-4B74-A632-6D98496122E6}"/>
    <dgm:cxn modelId="{B9393A7D-80EE-7742-A09D-A0F98CB00BBF}" type="presOf" srcId="{F2BFAAED-6CB9-4CA0-BC32-EC7CFE8A96F6}" destId="{1FD2DC41-C870-534A-8EFB-1D2920167D77}" srcOrd="0" destOrd="0" presId="urn:microsoft.com/office/officeart/2005/8/layout/vList2"/>
    <dgm:cxn modelId="{F08F3E7D-D786-4067-9454-3BC8C2B8CD7D}" srcId="{FD5D5C05-7B3F-403A-AE40-B01082D16334}" destId="{407DB641-1FB8-44CD-B270-FC3ECAD2852A}" srcOrd="3" destOrd="0" parTransId="{64F7D6F8-1942-4888-8D8D-E625E83C2AA6}" sibTransId="{E8900745-B369-4481-8972-B3E32F067C58}"/>
    <dgm:cxn modelId="{C684A7C1-E469-484F-92A7-8C8F5A1B7054}" type="presOf" srcId="{1C19A64C-CD83-49E4-B854-2A2DC9520DEE}" destId="{A392E29D-34F4-9045-A033-BEAA50C55B9E}" srcOrd="0" destOrd="1" presId="urn:microsoft.com/office/officeart/2005/8/layout/vList2"/>
    <dgm:cxn modelId="{CD71CCC2-5363-D248-91BB-260964280669}" type="presOf" srcId="{B98465F3-CF02-4935-8C4F-412186202551}" destId="{EB947782-3004-A14F-BF38-3687DB11B343}" srcOrd="0" destOrd="0" presId="urn:microsoft.com/office/officeart/2005/8/layout/vList2"/>
    <dgm:cxn modelId="{BD2D50D2-E48B-4308-88BC-BBF54BF025FD}" srcId="{FD5D5C05-7B3F-403A-AE40-B01082D16334}" destId="{7EA49DC6-2B5C-42C0-9C5C-CAD194AC0C8E}" srcOrd="1" destOrd="0" parTransId="{D2944EC1-ADDA-4266-83C3-755382047CAB}" sibTransId="{5BA9B643-A5AC-4EE8-A7CD-5BE8260A9CC1}"/>
    <dgm:cxn modelId="{B995ECD4-74C3-F043-96E5-1DEB604DF0DC}" type="presOf" srcId="{7EA49DC6-2B5C-42C0-9C5C-CAD194AC0C8E}" destId="{0C504390-763D-394F-BBE4-E65A293F06A8}" srcOrd="0" destOrd="0" presId="urn:microsoft.com/office/officeart/2005/8/layout/vList2"/>
    <dgm:cxn modelId="{F9B4A1D8-A386-D940-A981-3681DBD9A7EE}" type="presOf" srcId="{FD5D5C05-7B3F-403A-AE40-B01082D16334}" destId="{29A6DB66-68F2-0C4C-9622-7FA8162A7925}" srcOrd="0" destOrd="0" presId="urn:microsoft.com/office/officeart/2005/8/layout/vList2"/>
    <dgm:cxn modelId="{FB41D6E8-0AE5-499E-A2B4-C7102D2E1E5E}" srcId="{FD5D5C05-7B3F-403A-AE40-B01082D16334}" destId="{F2BFAAED-6CB9-4CA0-BC32-EC7CFE8A96F6}" srcOrd="0" destOrd="0" parTransId="{663B9C33-523C-463D-9975-4C6E746CCF86}" sibTransId="{3DE96D5E-B2FA-48F5-AADF-EDC5FE111BED}"/>
    <dgm:cxn modelId="{4A586842-8442-F044-AA4E-43BA8DAB10EF}" type="presParOf" srcId="{29A6DB66-68F2-0C4C-9622-7FA8162A7925}" destId="{1FD2DC41-C870-534A-8EFB-1D2920167D77}" srcOrd="0" destOrd="0" presId="urn:microsoft.com/office/officeart/2005/8/layout/vList2"/>
    <dgm:cxn modelId="{209509A5-7200-CB4C-9B2C-51495F23F301}" type="presParOf" srcId="{29A6DB66-68F2-0C4C-9622-7FA8162A7925}" destId="{08ACB569-A1F3-4A4C-AD24-969611A537C9}" srcOrd="1" destOrd="0" presId="urn:microsoft.com/office/officeart/2005/8/layout/vList2"/>
    <dgm:cxn modelId="{F047740C-15C9-9642-AEC0-84CBE5C29E01}" type="presParOf" srcId="{29A6DB66-68F2-0C4C-9622-7FA8162A7925}" destId="{0C504390-763D-394F-BBE4-E65A293F06A8}" srcOrd="2" destOrd="0" presId="urn:microsoft.com/office/officeart/2005/8/layout/vList2"/>
    <dgm:cxn modelId="{751EEAE5-817A-D442-86E4-0C079120BB23}" type="presParOf" srcId="{29A6DB66-68F2-0C4C-9622-7FA8162A7925}" destId="{08F3B752-F9EB-474C-A732-7B467F432F49}" srcOrd="3" destOrd="0" presId="urn:microsoft.com/office/officeart/2005/8/layout/vList2"/>
    <dgm:cxn modelId="{FCFF78B8-C512-1741-B367-3995024C7A21}" type="presParOf" srcId="{29A6DB66-68F2-0C4C-9622-7FA8162A7925}" destId="{31CC0763-BAA0-2749-B313-F57C87C3F21A}" srcOrd="4" destOrd="0" presId="urn:microsoft.com/office/officeart/2005/8/layout/vList2"/>
    <dgm:cxn modelId="{BDA65962-CE03-BB4B-AB28-20BC927933BD}" type="presParOf" srcId="{29A6DB66-68F2-0C4C-9622-7FA8162A7925}" destId="{103EAA2F-A2B0-5A41-ADDE-563BD840333D}" srcOrd="5" destOrd="0" presId="urn:microsoft.com/office/officeart/2005/8/layout/vList2"/>
    <dgm:cxn modelId="{5CD2B44D-40B8-884F-A81E-9009AB1E7DC2}" type="presParOf" srcId="{29A6DB66-68F2-0C4C-9622-7FA8162A7925}" destId="{E9A3700B-F972-EC49-A8F2-3C9EA2D7AD1F}" srcOrd="6" destOrd="0" presId="urn:microsoft.com/office/officeart/2005/8/layout/vList2"/>
    <dgm:cxn modelId="{2A59ED09-0933-6746-8AB2-0DCD036CEBF1}" type="presParOf" srcId="{29A6DB66-68F2-0C4C-9622-7FA8162A7925}" destId="{E47C6774-72D9-7A41-AC5F-43DE9DFCED34}" srcOrd="7" destOrd="0" presId="urn:microsoft.com/office/officeart/2005/8/layout/vList2"/>
    <dgm:cxn modelId="{54E6361C-3056-A144-9955-58104B998249}" type="presParOf" srcId="{29A6DB66-68F2-0C4C-9622-7FA8162A7925}" destId="{EB947782-3004-A14F-BF38-3687DB11B343}" srcOrd="8" destOrd="0" presId="urn:microsoft.com/office/officeart/2005/8/layout/vList2"/>
    <dgm:cxn modelId="{E3FCE150-C080-B44E-A4BC-83A798DE8C02}" type="presParOf" srcId="{29A6DB66-68F2-0C4C-9622-7FA8162A7925}" destId="{A392E29D-34F4-9045-A033-BEAA50C55B9E}"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B71713-A691-41CD-BCA5-749F480B1C2B}"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8ED3C774-0DE1-411D-8232-08F4CBD65298}">
      <dgm:prSet/>
      <dgm:spPr/>
      <dgm:t>
        <a:bodyPr/>
        <a:lstStyle/>
        <a:p>
          <a:r>
            <a:rPr lang="en-US" b="1"/>
            <a:t>Theoretical Implications</a:t>
          </a:r>
          <a:endParaRPr lang="en-US" dirty="0"/>
        </a:p>
      </dgm:t>
    </dgm:pt>
    <dgm:pt modelId="{40AB1212-8EC0-4CDB-8226-1F7FEF78508B}" type="parTrans" cxnId="{552ACDDB-2B57-4D01-B16B-FCE6E361E7F2}">
      <dgm:prSet/>
      <dgm:spPr/>
      <dgm:t>
        <a:bodyPr/>
        <a:lstStyle/>
        <a:p>
          <a:endParaRPr lang="en-US"/>
        </a:p>
      </dgm:t>
    </dgm:pt>
    <dgm:pt modelId="{218E2759-9011-4455-AD75-955DAC90D887}" type="sibTrans" cxnId="{552ACDDB-2B57-4D01-B16B-FCE6E361E7F2}">
      <dgm:prSet/>
      <dgm:spPr/>
      <dgm:t>
        <a:bodyPr/>
        <a:lstStyle/>
        <a:p>
          <a:endParaRPr lang="en-US"/>
        </a:p>
      </dgm:t>
    </dgm:pt>
    <dgm:pt modelId="{CE119753-F762-45FF-B2B1-DE3F070A2FE9}">
      <dgm:prSet/>
      <dgm:spPr/>
      <dgm:t>
        <a:bodyPr/>
        <a:lstStyle/>
        <a:p>
          <a:pPr>
            <a:lnSpc>
              <a:spcPct val="100000"/>
            </a:lnSpc>
          </a:pPr>
          <a:r>
            <a:rPr lang="en-US"/>
            <a:t>Markets are NOT uniformly efficient. </a:t>
          </a:r>
        </a:p>
      </dgm:t>
    </dgm:pt>
    <dgm:pt modelId="{80477DF6-B36A-42E6-9483-08CEDEF34BC0}" type="parTrans" cxnId="{3C344CBA-D59D-45D7-BAA3-6BE6EAC87468}">
      <dgm:prSet/>
      <dgm:spPr/>
      <dgm:t>
        <a:bodyPr/>
        <a:lstStyle/>
        <a:p>
          <a:endParaRPr lang="en-US"/>
        </a:p>
      </dgm:t>
    </dgm:pt>
    <dgm:pt modelId="{CAE1C73B-690E-456D-A7E8-662CF10268F8}" type="sibTrans" cxnId="{3C344CBA-D59D-45D7-BAA3-6BE6EAC87468}">
      <dgm:prSet/>
      <dgm:spPr/>
      <dgm:t>
        <a:bodyPr/>
        <a:lstStyle/>
        <a:p>
          <a:endParaRPr lang="en-US"/>
        </a:p>
      </dgm:t>
    </dgm:pt>
    <dgm:pt modelId="{2EB075F9-1D68-432D-AAF0-46DC25D1AC82}">
      <dgm:prSet/>
      <dgm:spPr/>
      <dgm:t>
        <a:bodyPr/>
        <a:lstStyle/>
        <a:p>
          <a:pPr>
            <a:lnSpc>
              <a:spcPct val="100000"/>
            </a:lnSpc>
          </a:pPr>
          <a:r>
            <a:rPr lang="en-US" dirty="0"/>
            <a:t>Public data CAN generate alpha </a:t>
          </a:r>
          <a:r>
            <a:rPr lang="en-US" dirty="0">
              <a:sym typeface="Wingdings" panose="05000000000000000000" pitchFamily="2" charset="2"/>
            </a:rPr>
            <a:t></a:t>
          </a:r>
          <a:r>
            <a:rPr lang="en-US" dirty="0"/>
            <a:t> contradicts semi-strong and strong-form EMH.</a:t>
          </a:r>
        </a:p>
      </dgm:t>
    </dgm:pt>
    <dgm:pt modelId="{CF54DCF4-28A8-4607-AAFE-3D4D0B83357D}" type="parTrans" cxnId="{F5B4634E-D52E-44C7-BA2E-E71C0BD850F4}">
      <dgm:prSet/>
      <dgm:spPr/>
      <dgm:t>
        <a:bodyPr/>
        <a:lstStyle/>
        <a:p>
          <a:endParaRPr lang="en-US"/>
        </a:p>
      </dgm:t>
    </dgm:pt>
    <dgm:pt modelId="{D75F5607-56D6-490B-B708-10BFBB8EF865}" type="sibTrans" cxnId="{F5B4634E-D52E-44C7-BA2E-E71C0BD850F4}">
      <dgm:prSet/>
      <dgm:spPr/>
      <dgm:t>
        <a:bodyPr/>
        <a:lstStyle/>
        <a:p>
          <a:endParaRPr lang="en-US"/>
        </a:p>
      </dgm:t>
    </dgm:pt>
    <dgm:pt modelId="{999DB663-BAE8-42A2-987E-28E552A01A88}">
      <dgm:prSet/>
      <dgm:spPr/>
      <dgm:t>
        <a:bodyPr/>
        <a:lstStyle/>
        <a:p>
          <a:pPr>
            <a:lnSpc>
              <a:spcPct val="100000"/>
            </a:lnSpc>
          </a:pPr>
          <a:r>
            <a:rPr lang="en-US" dirty="0"/>
            <a:t>LSTMs can find patterns in data </a:t>
          </a:r>
          <a:r>
            <a:rPr lang="en-US" dirty="0">
              <a:sym typeface="Wingdings" panose="05000000000000000000" pitchFamily="2" charset="2"/>
            </a:rPr>
            <a:t></a:t>
          </a:r>
          <a:r>
            <a:rPr lang="en-US" dirty="0"/>
            <a:t> Random Walk doesn’t entirely hold.</a:t>
          </a:r>
        </a:p>
      </dgm:t>
    </dgm:pt>
    <dgm:pt modelId="{02567E75-FE41-4BCB-BA8B-C899AAF85146}" type="parTrans" cxnId="{940F406F-241C-4990-BB8F-6FA7017996B6}">
      <dgm:prSet/>
      <dgm:spPr/>
      <dgm:t>
        <a:bodyPr/>
        <a:lstStyle/>
        <a:p>
          <a:endParaRPr lang="en-US"/>
        </a:p>
      </dgm:t>
    </dgm:pt>
    <dgm:pt modelId="{948558BF-E54D-489B-BFBB-E075C4A87B8F}" type="sibTrans" cxnId="{940F406F-241C-4990-BB8F-6FA7017996B6}">
      <dgm:prSet/>
      <dgm:spPr/>
      <dgm:t>
        <a:bodyPr/>
        <a:lstStyle/>
        <a:p>
          <a:endParaRPr lang="en-US"/>
        </a:p>
      </dgm:t>
    </dgm:pt>
    <dgm:pt modelId="{7927D3F1-DED5-4C7D-A626-68E039CAA093}">
      <dgm:prSet/>
      <dgm:spPr/>
      <dgm:t>
        <a:bodyPr/>
        <a:lstStyle/>
        <a:p>
          <a:r>
            <a:rPr lang="en-US" b="1"/>
            <a:t>Practical Implications</a:t>
          </a:r>
          <a:endParaRPr lang="en-US" dirty="0"/>
        </a:p>
      </dgm:t>
    </dgm:pt>
    <dgm:pt modelId="{ECFF6208-E34B-442D-94BF-29B8435FEFE3}" type="parTrans" cxnId="{DBFC5A1F-9B50-4A00-9551-D539647CE546}">
      <dgm:prSet/>
      <dgm:spPr/>
      <dgm:t>
        <a:bodyPr/>
        <a:lstStyle/>
        <a:p>
          <a:endParaRPr lang="en-US"/>
        </a:p>
      </dgm:t>
    </dgm:pt>
    <dgm:pt modelId="{3DED79A7-4768-416C-8934-BDFFB7F6213A}" type="sibTrans" cxnId="{DBFC5A1F-9B50-4A00-9551-D539647CE546}">
      <dgm:prSet/>
      <dgm:spPr/>
      <dgm:t>
        <a:bodyPr/>
        <a:lstStyle/>
        <a:p>
          <a:endParaRPr lang="en-US"/>
        </a:p>
      </dgm:t>
    </dgm:pt>
    <dgm:pt modelId="{D06193FC-4D9B-4213-ACF7-6045FDCFF233}">
      <dgm:prSet/>
      <dgm:spPr/>
      <dgm:t>
        <a:bodyPr/>
        <a:lstStyle/>
        <a:p>
          <a:pPr>
            <a:lnSpc>
              <a:spcPct val="100000"/>
            </a:lnSpc>
          </a:pPr>
          <a:r>
            <a:rPr lang="en-US" dirty="0"/>
            <a:t>Low-info assets are more vulnerable to manipulation and speculation.</a:t>
          </a:r>
        </a:p>
      </dgm:t>
    </dgm:pt>
    <dgm:pt modelId="{BEF20CFC-9213-47A6-A3F4-B244E8B616C1}" type="parTrans" cxnId="{7427670D-366F-4892-8E72-E2C75234C568}">
      <dgm:prSet/>
      <dgm:spPr/>
      <dgm:t>
        <a:bodyPr/>
        <a:lstStyle/>
        <a:p>
          <a:endParaRPr lang="en-US"/>
        </a:p>
      </dgm:t>
    </dgm:pt>
    <dgm:pt modelId="{40392E43-57B5-45A1-AED1-3B397E1F39C5}" type="sibTrans" cxnId="{7427670D-366F-4892-8E72-E2C75234C568}">
      <dgm:prSet/>
      <dgm:spPr/>
      <dgm:t>
        <a:bodyPr/>
        <a:lstStyle/>
        <a:p>
          <a:endParaRPr lang="en-US"/>
        </a:p>
      </dgm:t>
    </dgm:pt>
    <dgm:pt modelId="{A140DCF9-B356-4352-8FC7-0778E73917AD}">
      <dgm:prSet/>
      <dgm:spPr/>
      <dgm:t>
        <a:bodyPr/>
        <a:lstStyle/>
        <a:p>
          <a:pPr>
            <a:lnSpc>
              <a:spcPct val="100000"/>
            </a:lnSpc>
          </a:pPr>
          <a:r>
            <a:rPr lang="en-US" dirty="0"/>
            <a:t>Lightweight ML tools can help generate alpha, especially with low-info.</a:t>
          </a:r>
        </a:p>
      </dgm:t>
    </dgm:pt>
    <dgm:pt modelId="{E0D24D4D-E3EF-44E3-8464-2F7AA8D41000}" type="parTrans" cxnId="{29F52888-3A7F-47B2-B0A9-EF87894A0FE7}">
      <dgm:prSet/>
      <dgm:spPr/>
      <dgm:t>
        <a:bodyPr/>
        <a:lstStyle/>
        <a:p>
          <a:endParaRPr lang="en-US"/>
        </a:p>
      </dgm:t>
    </dgm:pt>
    <dgm:pt modelId="{46F92F1C-7386-44D5-87BC-996FF6A4EE2A}" type="sibTrans" cxnId="{29F52888-3A7F-47B2-B0A9-EF87894A0FE7}">
      <dgm:prSet/>
      <dgm:spPr/>
      <dgm:t>
        <a:bodyPr/>
        <a:lstStyle/>
        <a:p>
          <a:endParaRPr lang="en-US"/>
        </a:p>
      </dgm:t>
    </dgm:pt>
    <dgm:pt modelId="{82BDF06E-81CB-43F8-B455-A5F15C198227}">
      <dgm:prSet/>
      <dgm:spPr/>
      <dgm:t>
        <a:bodyPr/>
        <a:lstStyle/>
        <a:p>
          <a:pPr>
            <a:lnSpc>
              <a:spcPct val="100000"/>
            </a:lnSpc>
          </a:pPr>
          <a:r>
            <a:rPr lang="en-US" dirty="0"/>
            <a:t>LSTMs are a scalable, flexible alternative to traditional models.</a:t>
          </a:r>
        </a:p>
      </dgm:t>
    </dgm:pt>
    <dgm:pt modelId="{B04CDDEC-A37A-4F65-BA2A-2B6E9076CD2F}" type="parTrans" cxnId="{9240773A-F1C5-4DDB-A2D9-5F2763B48559}">
      <dgm:prSet/>
      <dgm:spPr/>
      <dgm:t>
        <a:bodyPr/>
        <a:lstStyle/>
        <a:p>
          <a:endParaRPr lang="en-US"/>
        </a:p>
      </dgm:t>
    </dgm:pt>
    <dgm:pt modelId="{7B138BFB-2B77-4B3F-828B-B5BD95AC4C6D}" type="sibTrans" cxnId="{9240773A-F1C5-4DDB-A2D9-5F2763B48559}">
      <dgm:prSet/>
      <dgm:spPr/>
      <dgm:t>
        <a:bodyPr/>
        <a:lstStyle/>
        <a:p>
          <a:endParaRPr lang="en-US"/>
        </a:p>
      </dgm:t>
    </dgm:pt>
    <dgm:pt modelId="{B452937F-499F-4FFF-AB01-D49684A1DC84}">
      <dgm:prSet/>
      <dgm:spPr/>
      <dgm:t>
        <a:bodyPr/>
        <a:lstStyle/>
        <a:p>
          <a:r>
            <a:rPr lang="en-US" b="1" dirty="0"/>
            <a:t>Limitations</a:t>
          </a:r>
          <a:endParaRPr lang="en-US" dirty="0"/>
        </a:p>
      </dgm:t>
    </dgm:pt>
    <dgm:pt modelId="{3F861EA6-B2FB-4F3F-B022-591393D08FDF}" type="parTrans" cxnId="{3DB76AAD-6F7C-402A-ADE8-300499C6DD6F}">
      <dgm:prSet/>
      <dgm:spPr/>
      <dgm:t>
        <a:bodyPr/>
        <a:lstStyle/>
        <a:p>
          <a:endParaRPr lang="en-US"/>
        </a:p>
      </dgm:t>
    </dgm:pt>
    <dgm:pt modelId="{87C9AD50-8882-4E13-AD65-222BB24D180B}" type="sibTrans" cxnId="{3DB76AAD-6F7C-402A-ADE8-300499C6DD6F}">
      <dgm:prSet/>
      <dgm:spPr/>
      <dgm:t>
        <a:bodyPr/>
        <a:lstStyle/>
        <a:p>
          <a:endParaRPr lang="en-US"/>
        </a:p>
      </dgm:t>
    </dgm:pt>
    <dgm:pt modelId="{6C2C8D05-90E6-49C4-BE9D-D195FE1E7B84}">
      <dgm:prSet/>
      <dgm:spPr/>
      <dgm:t>
        <a:bodyPr/>
        <a:lstStyle/>
        <a:p>
          <a:pPr>
            <a:lnSpc>
              <a:spcPct val="100000"/>
            </a:lnSpc>
          </a:pPr>
          <a:r>
            <a:rPr lang="en-US" dirty="0"/>
            <a:t>Sample size: 30 assets, 60 trials, 2-year testing window </a:t>
          </a:r>
          <a:r>
            <a:rPr lang="en-US" dirty="0">
              <a:sym typeface="Wingdings" panose="05000000000000000000" pitchFamily="2" charset="2"/>
            </a:rPr>
            <a:t></a:t>
          </a:r>
          <a:r>
            <a:rPr lang="en-US" dirty="0"/>
            <a:t> more trials needed.</a:t>
          </a:r>
        </a:p>
      </dgm:t>
    </dgm:pt>
    <dgm:pt modelId="{C56F4749-3550-459F-9CF9-AA16AA494486}" type="parTrans" cxnId="{1B8737B3-2999-41C0-9FE4-F5234A6FEB51}">
      <dgm:prSet/>
      <dgm:spPr/>
      <dgm:t>
        <a:bodyPr/>
        <a:lstStyle/>
        <a:p>
          <a:endParaRPr lang="en-US"/>
        </a:p>
      </dgm:t>
    </dgm:pt>
    <dgm:pt modelId="{12A24BA3-28F2-48C4-A47B-3A7214497554}" type="sibTrans" cxnId="{1B8737B3-2999-41C0-9FE4-F5234A6FEB51}">
      <dgm:prSet/>
      <dgm:spPr/>
      <dgm:t>
        <a:bodyPr/>
        <a:lstStyle/>
        <a:p>
          <a:endParaRPr lang="en-US"/>
        </a:p>
      </dgm:t>
    </dgm:pt>
    <dgm:pt modelId="{323F3977-479B-436A-A921-7BCC7BFEEB06}">
      <dgm:prSet/>
      <dgm:spPr/>
      <dgm:t>
        <a:bodyPr/>
        <a:lstStyle/>
        <a:p>
          <a:pPr>
            <a:lnSpc>
              <a:spcPct val="100000"/>
            </a:lnSpc>
          </a:pPr>
          <a:r>
            <a:rPr lang="en-US" dirty="0"/>
            <a:t>Computational constraints: </a:t>
          </a:r>
          <a:r>
            <a:rPr lang="en-US" b="1" dirty="0"/>
            <a:t>time</a:t>
          </a:r>
          <a:r>
            <a:rPr lang="en-US" dirty="0"/>
            <a:t>, RAM &amp; VRAM, CPU &amp; GPU capacity.</a:t>
          </a:r>
        </a:p>
      </dgm:t>
    </dgm:pt>
    <dgm:pt modelId="{B4271670-7DBC-4374-9FFE-D72181C8B9BE}" type="parTrans" cxnId="{469FE12D-26FB-44B9-9345-0A2A7E8F1E7B}">
      <dgm:prSet/>
      <dgm:spPr/>
      <dgm:t>
        <a:bodyPr/>
        <a:lstStyle/>
        <a:p>
          <a:endParaRPr lang="en-US"/>
        </a:p>
      </dgm:t>
    </dgm:pt>
    <dgm:pt modelId="{31DE555C-A084-46E7-B0E6-E2DB2AFA5D93}" type="sibTrans" cxnId="{469FE12D-26FB-44B9-9345-0A2A7E8F1E7B}">
      <dgm:prSet/>
      <dgm:spPr/>
      <dgm:t>
        <a:bodyPr/>
        <a:lstStyle/>
        <a:p>
          <a:endParaRPr lang="en-US"/>
        </a:p>
      </dgm:t>
    </dgm:pt>
    <dgm:pt modelId="{E081D628-6019-4FD6-BD1A-A8AAC0DAF5DA}">
      <dgm:prSet/>
      <dgm:spPr/>
      <dgm:t>
        <a:bodyPr/>
        <a:lstStyle/>
        <a:p>
          <a:pPr>
            <a:lnSpc>
              <a:spcPct val="100000"/>
            </a:lnSpc>
          </a:pPr>
          <a:r>
            <a:rPr lang="en-US"/>
            <a:t>Black-box problem: AI models are too complex to fully understand.</a:t>
          </a:r>
        </a:p>
      </dgm:t>
    </dgm:pt>
    <dgm:pt modelId="{2FAE90DD-B33A-4B44-9AA2-62B4F24050FB}" type="parTrans" cxnId="{4F6D7805-B0BA-4776-987E-B61BE5E233B8}">
      <dgm:prSet/>
      <dgm:spPr/>
      <dgm:t>
        <a:bodyPr/>
        <a:lstStyle/>
        <a:p>
          <a:endParaRPr lang="en-US"/>
        </a:p>
      </dgm:t>
    </dgm:pt>
    <dgm:pt modelId="{04E96777-6AA8-486A-87CF-94430D1B4EA2}" type="sibTrans" cxnId="{4F6D7805-B0BA-4776-987E-B61BE5E233B8}">
      <dgm:prSet/>
      <dgm:spPr/>
      <dgm:t>
        <a:bodyPr/>
        <a:lstStyle/>
        <a:p>
          <a:endParaRPr lang="en-US"/>
        </a:p>
      </dgm:t>
    </dgm:pt>
    <dgm:pt modelId="{85FBD8E4-9DF3-1841-861D-96D928686F68}" type="pres">
      <dgm:prSet presAssocID="{2DB71713-A691-41CD-BCA5-749F480B1C2B}" presName="linear" presStyleCnt="0">
        <dgm:presLayoutVars>
          <dgm:animLvl val="lvl"/>
          <dgm:resizeHandles val="exact"/>
        </dgm:presLayoutVars>
      </dgm:prSet>
      <dgm:spPr/>
    </dgm:pt>
    <dgm:pt modelId="{93D773F6-0182-104B-8BE5-D070A7420830}" type="pres">
      <dgm:prSet presAssocID="{8ED3C774-0DE1-411D-8232-08F4CBD65298}" presName="parentText" presStyleLbl="node1" presStyleIdx="0" presStyleCnt="3">
        <dgm:presLayoutVars>
          <dgm:chMax val="0"/>
          <dgm:bulletEnabled val="1"/>
        </dgm:presLayoutVars>
      </dgm:prSet>
      <dgm:spPr/>
    </dgm:pt>
    <dgm:pt modelId="{29122452-16A4-F546-A128-DF5463081C9A}" type="pres">
      <dgm:prSet presAssocID="{8ED3C774-0DE1-411D-8232-08F4CBD65298}" presName="childText" presStyleLbl="revTx" presStyleIdx="0" presStyleCnt="3">
        <dgm:presLayoutVars>
          <dgm:bulletEnabled val="1"/>
        </dgm:presLayoutVars>
      </dgm:prSet>
      <dgm:spPr/>
    </dgm:pt>
    <dgm:pt modelId="{A95825AC-5F35-FA4C-84FF-6E3F90228C5C}" type="pres">
      <dgm:prSet presAssocID="{7927D3F1-DED5-4C7D-A626-68E039CAA093}" presName="parentText" presStyleLbl="node1" presStyleIdx="1" presStyleCnt="3">
        <dgm:presLayoutVars>
          <dgm:chMax val="0"/>
          <dgm:bulletEnabled val="1"/>
        </dgm:presLayoutVars>
      </dgm:prSet>
      <dgm:spPr/>
    </dgm:pt>
    <dgm:pt modelId="{71674233-9FBF-DB48-AF0D-6E73E2AC8E5F}" type="pres">
      <dgm:prSet presAssocID="{7927D3F1-DED5-4C7D-A626-68E039CAA093}" presName="childText" presStyleLbl="revTx" presStyleIdx="1" presStyleCnt="3">
        <dgm:presLayoutVars>
          <dgm:bulletEnabled val="1"/>
        </dgm:presLayoutVars>
      </dgm:prSet>
      <dgm:spPr/>
    </dgm:pt>
    <dgm:pt modelId="{3088CCDA-D45D-0149-8C50-8A701CC72815}" type="pres">
      <dgm:prSet presAssocID="{B452937F-499F-4FFF-AB01-D49684A1DC84}" presName="parentText" presStyleLbl="node1" presStyleIdx="2" presStyleCnt="3">
        <dgm:presLayoutVars>
          <dgm:chMax val="0"/>
          <dgm:bulletEnabled val="1"/>
        </dgm:presLayoutVars>
      </dgm:prSet>
      <dgm:spPr/>
    </dgm:pt>
    <dgm:pt modelId="{3C243483-823D-0945-AA6C-5AF3BF333F00}" type="pres">
      <dgm:prSet presAssocID="{B452937F-499F-4FFF-AB01-D49684A1DC84}" presName="childText" presStyleLbl="revTx" presStyleIdx="2" presStyleCnt="3">
        <dgm:presLayoutVars>
          <dgm:bulletEnabled val="1"/>
        </dgm:presLayoutVars>
      </dgm:prSet>
      <dgm:spPr/>
    </dgm:pt>
  </dgm:ptLst>
  <dgm:cxnLst>
    <dgm:cxn modelId="{4F6D7805-B0BA-4776-987E-B61BE5E233B8}" srcId="{B452937F-499F-4FFF-AB01-D49684A1DC84}" destId="{E081D628-6019-4FD6-BD1A-A8AAC0DAF5DA}" srcOrd="2" destOrd="0" parTransId="{2FAE90DD-B33A-4B44-9AA2-62B4F24050FB}" sibTransId="{04E96777-6AA8-486A-87CF-94430D1B4EA2}"/>
    <dgm:cxn modelId="{9EBE210C-095F-4344-A5A1-639E181B5412}" type="presOf" srcId="{E081D628-6019-4FD6-BD1A-A8AAC0DAF5DA}" destId="{3C243483-823D-0945-AA6C-5AF3BF333F00}" srcOrd="0" destOrd="2" presId="urn:microsoft.com/office/officeart/2005/8/layout/vList2"/>
    <dgm:cxn modelId="{7427670D-366F-4892-8E72-E2C75234C568}" srcId="{7927D3F1-DED5-4C7D-A626-68E039CAA093}" destId="{D06193FC-4D9B-4213-ACF7-6045FDCFF233}" srcOrd="0" destOrd="0" parTransId="{BEF20CFC-9213-47A6-A3F4-B244E8B616C1}" sibTransId="{40392E43-57B5-45A1-AED1-3B397E1F39C5}"/>
    <dgm:cxn modelId="{5A732912-91C4-8541-BB8D-0CB29CD22435}" type="presOf" srcId="{D06193FC-4D9B-4213-ACF7-6045FDCFF233}" destId="{71674233-9FBF-DB48-AF0D-6E73E2AC8E5F}" srcOrd="0" destOrd="0" presId="urn:microsoft.com/office/officeart/2005/8/layout/vList2"/>
    <dgm:cxn modelId="{DBFC5A1F-9B50-4A00-9551-D539647CE546}" srcId="{2DB71713-A691-41CD-BCA5-749F480B1C2B}" destId="{7927D3F1-DED5-4C7D-A626-68E039CAA093}" srcOrd="1" destOrd="0" parTransId="{ECFF6208-E34B-442D-94BF-29B8435FEFE3}" sibTransId="{3DED79A7-4768-416C-8934-BDFFB7F6213A}"/>
    <dgm:cxn modelId="{469FE12D-26FB-44B9-9345-0A2A7E8F1E7B}" srcId="{B452937F-499F-4FFF-AB01-D49684A1DC84}" destId="{323F3977-479B-436A-A921-7BCC7BFEEB06}" srcOrd="1" destOrd="0" parTransId="{B4271670-7DBC-4374-9FFE-D72181C8B9BE}" sibTransId="{31DE555C-A084-46E7-B0E6-E2DB2AFA5D93}"/>
    <dgm:cxn modelId="{9C197C33-D561-314B-91C4-117A678E4A8A}" type="presOf" srcId="{999DB663-BAE8-42A2-987E-28E552A01A88}" destId="{29122452-16A4-F546-A128-DF5463081C9A}" srcOrd="0" destOrd="2" presId="urn:microsoft.com/office/officeart/2005/8/layout/vList2"/>
    <dgm:cxn modelId="{9240773A-F1C5-4DDB-A2D9-5F2763B48559}" srcId="{7927D3F1-DED5-4C7D-A626-68E039CAA093}" destId="{82BDF06E-81CB-43F8-B455-A5F15C198227}" srcOrd="2" destOrd="0" parTransId="{B04CDDEC-A37A-4F65-BA2A-2B6E9076CD2F}" sibTransId="{7B138BFB-2B77-4B3F-828B-B5BD95AC4C6D}"/>
    <dgm:cxn modelId="{066B733B-F710-5840-B6B8-B2AA8970461E}" type="presOf" srcId="{323F3977-479B-436A-A921-7BCC7BFEEB06}" destId="{3C243483-823D-0945-AA6C-5AF3BF333F00}" srcOrd="0" destOrd="1" presId="urn:microsoft.com/office/officeart/2005/8/layout/vList2"/>
    <dgm:cxn modelId="{5320D941-D708-8F48-B8B3-EE7E188DB7E1}" type="presOf" srcId="{CE119753-F762-45FF-B2B1-DE3F070A2FE9}" destId="{29122452-16A4-F546-A128-DF5463081C9A}" srcOrd="0" destOrd="0" presId="urn:microsoft.com/office/officeart/2005/8/layout/vList2"/>
    <dgm:cxn modelId="{F5B4634E-D52E-44C7-BA2E-E71C0BD850F4}" srcId="{8ED3C774-0DE1-411D-8232-08F4CBD65298}" destId="{2EB075F9-1D68-432D-AAF0-46DC25D1AC82}" srcOrd="1" destOrd="0" parTransId="{CF54DCF4-28A8-4607-AAFE-3D4D0B83357D}" sibTransId="{D75F5607-56D6-490B-B708-10BFBB8EF865}"/>
    <dgm:cxn modelId="{2FDCB466-09A6-CA45-8BE9-38A55D61B335}" type="presOf" srcId="{6C2C8D05-90E6-49C4-BE9D-D195FE1E7B84}" destId="{3C243483-823D-0945-AA6C-5AF3BF333F00}" srcOrd="0" destOrd="0" presId="urn:microsoft.com/office/officeart/2005/8/layout/vList2"/>
    <dgm:cxn modelId="{657F496C-D4C5-A943-97E0-E011E7DCA264}" type="presOf" srcId="{2DB71713-A691-41CD-BCA5-749F480B1C2B}" destId="{85FBD8E4-9DF3-1841-861D-96D928686F68}" srcOrd="0" destOrd="0" presId="urn:microsoft.com/office/officeart/2005/8/layout/vList2"/>
    <dgm:cxn modelId="{940F406F-241C-4990-BB8F-6FA7017996B6}" srcId="{8ED3C774-0DE1-411D-8232-08F4CBD65298}" destId="{999DB663-BAE8-42A2-987E-28E552A01A88}" srcOrd="2" destOrd="0" parTransId="{02567E75-FE41-4BCB-BA8B-C899AAF85146}" sibTransId="{948558BF-E54D-489B-BFBB-E075C4A87B8F}"/>
    <dgm:cxn modelId="{29F52888-3A7F-47B2-B0A9-EF87894A0FE7}" srcId="{7927D3F1-DED5-4C7D-A626-68E039CAA093}" destId="{A140DCF9-B356-4352-8FC7-0778E73917AD}" srcOrd="1" destOrd="0" parTransId="{E0D24D4D-E3EF-44E3-8464-2F7AA8D41000}" sibTransId="{46F92F1C-7386-44D5-87BC-996FF6A4EE2A}"/>
    <dgm:cxn modelId="{3DB76AAD-6F7C-402A-ADE8-300499C6DD6F}" srcId="{2DB71713-A691-41CD-BCA5-749F480B1C2B}" destId="{B452937F-499F-4FFF-AB01-D49684A1DC84}" srcOrd="2" destOrd="0" parTransId="{3F861EA6-B2FB-4F3F-B022-591393D08FDF}" sibTransId="{87C9AD50-8882-4E13-AD65-222BB24D180B}"/>
    <dgm:cxn modelId="{1B8737B3-2999-41C0-9FE4-F5234A6FEB51}" srcId="{B452937F-499F-4FFF-AB01-D49684A1DC84}" destId="{6C2C8D05-90E6-49C4-BE9D-D195FE1E7B84}" srcOrd="0" destOrd="0" parTransId="{C56F4749-3550-459F-9CF9-AA16AA494486}" sibTransId="{12A24BA3-28F2-48C4-A47B-3A7214497554}"/>
    <dgm:cxn modelId="{3C344CBA-D59D-45D7-BAA3-6BE6EAC87468}" srcId="{8ED3C774-0DE1-411D-8232-08F4CBD65298}" destId="{CE119753-F762-45FF-B2B1-DE3F070A2FE9}" srcOrd="0" destOrd="0" parTransId="{80477DF6-B36A-42E6-9483-08CEDEF34BC0}" sibTransId="{CAE1C73B-690E-456D-A7E8-662CF10268F8}"/>
    <dgm:cxn modelId="{DF93C0C3-6ECC-8042-A35B-71E5827376A3}" type="presOf" srcId="{8ED3C774-0DE1-411D-8232-08F4CBD65298}" destId="{93D773F6-0182-104B-8BE5-D070A7420830}" srcOrd="0" destOrd="0" presId="urn:microsoft.com/office/officeart/2005/8/layout/vList2"/>
    <dgm:cxn modelId="{AAE575DA-146F-7640-BE09-CA7F01FFE48E}" type="presOf" srcId="{2EB075F9-1D68-432D-AAF0-46DC25D1AC82}" destId="{29122452-16A4-F546-A128-DF5463081C9A}" srcOrd="0" destOrd="1" presId="urn:microsoft.com/office/officeart/2005/8/layout/vList2"/>
    <dgm:cxn modelId="{552ACDDB-2B57-4D01-B16B-FCE6E361E7F2}" srcId="{2DB71713-A691-41CD-BCA5-749F480B1C2B}" destId="{8ED3C774-0DE1-411D-8232-08F4CBD65298}" srcOrd="0" destOrd="0" parTransId="{40AB1212-8EC0-4CDB-8226-1F7FEF78508B}" sibTransId="{218E2759-9011-4455-AD75-955DAC90D887}"/>
    <dgm:cxn modelId="{D830ABE0-ABA7-904D-85CA-1DCE4DAAD131}" type="presOf" srcId="{B452937F-499F-4FFF-AB01-D49684A1DC84}" destId="{3088CCDA-D45D-0149-8C50-8A701CC72815}" srcOrd="0" destOrd="0" presId="urn:microsoft.com/office/officeart/2005/8/layout/vList2"/>
    <dgm:cxn modelId="{53428FE1-45DF-784B-A95B-2F0464ED171F}" type="presOf" srcId="{82BDF06E-81CB-43F8-B455-A5F15C198227}" destId="{71674233-9FBF-DB48-AF0D-6E73E2AC8E5F}" srcOrd="0" destOrd="2" presId="urn:microsoft.com/office/officeart/2005/8/layout/vList2"/>
    <dgm:cxn modelId="{F46AA6E4-D7D0-9141-9F5D-B02570BCCED0}" type="presOf" srcId="{A140DCF9-B356-4352-8FC7-0778E73917AD}" destId="{71674233-9FBF-DB48-AF0D-6E73E2AC8E5F}" srcOrd="0" destOrd="1" presId="urn:microsoft.com/office/officeart/2005/8/layout/vList2"/>
    <dgm:cxn modelId="{C4C4DFF9-634E-6D40-84FE-6E1A1322B4F2}" type="presOf" srcId="{7927D3F1-DED5-4C7D-A626-68E039CAA093}" destId="{A95825AC-5F35-FA4C-84FF-6E3F90228C5C}" srcOrd="0" destOrd="0" presId="urn:microsoft.com/office/officeart/2005/8/layout/vList2"/>
    <dgm:cxn modelId="{E75144E8-8EC7-E246-8AA6-B24ECFEBCE2A}" type="presParOf" srcId="{85FBD8E4-9DF3-1841-861D-96D928686F68}" destId="{93D773F6-0182-104B-8BE5-D070A7420830}" srcOrd="0" destOrd="0" presId="urn:microsoft.com/office/officeart/2005/8/layout/vList2"/>
    <dgm:cxn modelId="{A781253F-1BBB-7948-BE0E-51595D3A52D8}" type="presParOf" srcId="{85FBD8E4-9DF3-1841-861D-96D928686F68}" destId="{29122452-16A4-F546-A128-DF5463081C9A}" srcOrd="1" destOrd="0" presId="urn:microsoft.com/office/officeart/2005/8/layout/vList2"/>
    <dgm:cxn modelId="{09F489B5-B435-1E4C-931D-B2625CEBD1FE}" type="presParOf" srcId="{85FBD8E4-9DF3-1841-861D-96D928686F68}" destId="{A95825AC-5F35-FA4C-84FF-6E3F90228C5C}" srcOrd="2" destOrd="0" presId="urn:microsoft.com/office/officeart/2005/8/layout/vList2"/>
    <dgm:cxn modelId="{68068A25-9BA5-324F-810A-9FCC88C61F5D}" type="presParOf" srcId="{85FBD8E4-9DF3-1841-861D-96D928686F68}" destId="{71674233-9FBF-DB48-AF0D-6E73E2AC8E5F}" srcOrd="3" destOrd="0" presId="urn:microsoft.com/office/officeart/2005/8/layout/vList2"/>
    <dgm:cxn modelId="{B37BB4C5-4E0B-4A4F-8C8A-9A9993180A32}" type="presParOf" srcId="{85FBD8E4-9DF3-1841-861D-96D928686F68}" destId="{3088CCDA-D45D-0149-8C50-8A701CC72815}" srcOrd="4" destOrd="0" presId="urn:microsoft.com/office/officeart/2005/8/layout/vList2"/>
    <dgm:cxn modelId="{A2AD58A4-A7D2-2A4F-B19E-5A3F43583543}" type="presParOf" srcId="{85FBD8E4-9DF3-1841-861D-96D928686F68}" destId="{3C243483-823D-0945-AA6C-5AF3BF333F00}"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D2DC41-C870-534A-8EFB-1D2920167D77}">
      <dsp:nvSpPr>
        <dsp:cNvPr id="0" name=""/>
        <dsp:cNvSpPr/>
      </dsp:nvSpPr>
      <dsp:spPr>
        <a:xfrm>
          <a:off x="0" y="504384"/>
          <a:ext cx="5891471" cy="57563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1. Gather &amp; normalize data</a:t>
          </a:r>
        </a:p>
      </dsp:txBody>
      <dsp:txXfrm>
        <a:off x="28100" y="532484"/>
        <a:ext cx="5835271" cy="519439"/>
      </dsp:txXfrm>
    </dsp:sp>
    <dsp:sp modelId="{0C504390-763D-394F-BBE4-E65A293F06A8}">
      <dsp:nvSpPr>
        <dsp:cNvPr id="0" name=""/>
        <dsp:cNvSpPr/>
      </dsp:nvSpPr>
      <dsp:spPr>
        <a:xfrm>
          <a:off x="0" y="1149144"/>
          <a:ext cx="5891471" cy="575639"/>
        </a:xfrm>
        <a:prstGeom prst="roundRect">
          <a:avLst/>
        </a:prstGeom>
        <a:solidFill>
          <a:schemeClr val="accent5">
            <a:hueOff val="-308128"/>
            <a:satOff val="-3153"/>
            <a:lumOff val="1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2. Train technical vs. factor‑augmented LSTM</a:t>
          </a:r>
        </a:p>
      </dsp:txBody>
      <dsp:txXfrm>
        <a:off x="28100" y="1177244"/>
        <a:ext cx="5835271" cy="519439"/>
      </dsp:txXfrm>
    </dsp:sp>
    <dsp:sp modelId="{31CC0763-BAA0-2749-B313-F57C87C3F21A}">
      <dsp:nvSpPr>
        <dsp:cNvPr id="0" name=""/>
        <dsp:cNvSpPr/>
      </dsp:nvSpPr>
      <dsp:spPr>
        <a:xfrm>
          <a:off x="0" y="1793904"/>
          <a:ext cx="5891471" cy="575639"/>
        </a:xfrm>
        <a:prstGeom prst="roundRect">
          <a:avLst/>
        </a:prstGeom>
        <a:solidFill>
          <a:schemeClr val="accent5">
            <a:hueOff val="-616256"/>
            <a:satOff val="-6307"/>
            <a:lumOff val="27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3. Predict next 5‑day Close</a:t>
          </a:r>
        </a:p>
      </dsp:txBody>
      <dsp:txXfrm>
        <a:off x="28100" y="1822004"/>
        <a:ext cx="5835271" cy="519439"/>
      </dsp:txXfrm>
    </dsp:sp>
    <dsp:sp modelId="{E9A3700B-F972-EC49-A8F2-3C9EA2D7AD1F}">
      <dsp:nvSpPr>
        <dsp:cNvPr id="0" name=""/>
        <dsp:cNvSpPr/>
      </dsp:nvSpPr>
      <dsp:spPr>
        <a:xfrm>
          <a:off x="0" y="2438664"/>
          <a:ext cx="5891471" cy="575639"/>
        </a:xfrm>
        <a:prstGeom prst="roundRect">
          <a:avLst/>
        </a:prstGeom>
        <a:solidFill>
          <a:schemeClr val="accent5">
            <a:hueOff val="-924383"/>
            <a:satOff val="-9460"/>
            <a:lumOff val="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4. </a:t>
          </a:r>
          <a:r>
            <a:rPr lang="en-US" sz="2400" kern="1200" dirty="0" err="1"/>
            <a:t>Backtest</a:t>
          </a:r>
          <a:r>
            <a:rPr lang="en-US" sz="2400" kern="1200" dirty="0"/>
            <a:t> signals</a:t>
          </a:r>
        </a:p>
      </dsp:txBody>
      <dsp:txXfrm>
        <a:off x="28100" y="2466764"/>
        <a:ext cx="5835271" cy="519439"/>
      </dsp:txXfrm>
    </dsp:sp>
    <dsp:sp modelId="{EB947782-3004-A14F-BF38-3687DB11B343}">
      <dsp:nvSpPr>
        <dsp:cNvPr id="0" name=""/>
        <dsp:cNvSpPr/>
      </dsp:nvSpPr>
      <dsp:spPr>
        <a:xfrm>
          <a:off x="0" y="3083424"/>
          <a:ext cx="5891471" cy="575639"/>
        </a:xfrm>
        <a:prstGeom prst="roundRect">
          <a:avLst/>
        </a:prstGeom>
        <a:solidFill>
          <a:schemeClr val="accent5">
            <a:hueOff val="-1232511"/>
            <a:satOff val="-12614"/>
            <a:lumOff val="54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5. Evaluate alpha, Sharpe, error metrics</a:t>
          </a:r>
        </a:p>
      </dsp:txBody>
      <dsp:txXfrm>
        <a:off x="28100" y="3111524"/>
        <a:ext cx="5835271" cy="519439"/>
      </dsp:txXfrm>
    </dsp:sp>
    <dsp:sp modelId="{A392E29D-34F4-9045-A033-BEAA50C55B9E}">
      <dsp:nvSpPr>
        <dsp:cNvPr id="0" name=""/>
        <dsp:cNvSpPr/>
      </dsp:nvSpPr>
      <dsp:spPr>
        <a:xfrm>
          <a:off x="0" y="3659064"/>
          <a:ext cx="5891471"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05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Descriptive statistics</a:t>
          </a:r>
        </a:p>
        <a:p>
          <a:pPr marL="171450" lvl="1" indent="-171450" algn="l" defTabSz="844550">
            <a:lnSpc>
              <a:spcPct val="90000"/>
            </a:lnSpc>
            <a:spcBef>
              <a:spcPct val="0"/>
            </a:spcBef>
            <a:spcAft>
              <a:spcPct val="20000"/>
            </a:spcAft>
            <a:buChar char="•"/>
          </a:pPr>
          <a:r>
            <a:rPr lang="en-US" sz="1900" kern="1200"/>
            <a:t>ANOVA and t-tests across categories</a:t>
          </a:r>
        </a:p>
        <a:p>
          <a:pPr marL="171450" lvl="1" indent="-171450" algn="l" defTabSz="844550">
            <a:lnSpc>
              <a:spcPct val="90000"/>
            </a:lnSpc>
            <a:spcBef>
              <a:spcPct val="0"/>
            </a:spcBef>
            <a:spcAft>
              <a:spcPct val="20000"/>
            </a:spcAft>
            <a:buChar char="•"/>
          </a:pPr>
          <a:r>
            <a:rPr lang="en-US" sz="1900" kern="1200"/>
            <a:t>Categorical regression with Alpha as DV</a:t>
          </a:r>
        </a:p>
      </dsp:txBody>
      <dsp:txXfrm>
        <a:off x="0" y="3659064"/>
        <a:ext cx="5891471" cy="9936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D773F6-0182-104B-8BE5-D070A7420830}">
      <dsp:nvSpPr>
        <dsp:cNvPr id="0" name=""/>
        <dsp:cNvSpPr/>
      </dsp:nvSpPr>
      <dsp:spPr>
        <a:xfrm>
          <a:off x="0" y="660752"/>
          <a:ext cx="6820506" cy="5276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Theoretical Implications</a:t>
          </a:r>
          <a:endParaRPr lang="en-US" sz="2200" kern="1200" dirty="0"/>
        </a:p>
      </dsp:txBody>
      <dsp:txXfrm>
        <a:off x="25759" y="686511"/>
        <a:ext cx="6768988" cy="476152"/>
      </dsp:txXfrm>
    </dsp:sp>
    <dsp:sp modelId="{29122452-16A4-F546-A128-DF5463081C9A}">
      <dsp:nvSpPr>
        <dsp:cNvPr id="0" name=""/>
        <dsp:cNvSpPr/>
      </dsp:nvSpPr>
      <dsp:spPr>
        <a:xfrm>
          <a:off x="0" y="1188423"/>
          <a:ext cx="6820506" cy="1229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6551" tIns="27940" rIns="156464" bIns="27940" numCol="1" spcCol="1270" anchor="t" anchorCtr="0">
          <a:noAutofit/>
        </a:bodyPr>
        <a:lstStyle/>
        <a:p>
          <a:pPr marL="171450" lvl="1" indent="-171450" algn="l" defTabSz="755650">
            <a:lnSpc>
              <a:spcPct val="100000"/>
            </a:lnSpc>
            <a:spcBef>
              <a:spcPct val="0"/>
            </a:spcBef>
            <a:spcAft>
              <a:spcPct val="20000"/>
            </a:spcAft>
            <a:buChar char="•"/>
          </a:pPr>
          <a:r>
            <a:rPr lang="en-US" sz="1700" kern="1200"/>
            <a:t>Markets are NOT uniformly efficient. </a:t>
          </a:r>
        </a:p>
        <a:p>
          <a:pPr marL="171450" lvl="1" indent="-171450" algn="l" defTabSz="755650">
            <a:lnSpc>
              <a:spcPct val="100000"/>
            </a:lnSpc>
            <a:spcBef>
              <a:spcPct val="0"/>
            </a:spcBef>
            <a:spcAft>
              <a:spcPct val="20000"/>
            </a:spcAft>
            <a:buChar char="•"/>
          </a:pPr>
          <a:r>
            <a:rPr lang="en-US" sz="1700" kern="1200" dirty="0"/>
            <a:t>Public data CAN generate alpha </a:t>
          </a:r>
          <a:r>
            <a:rPr lang="en-US" sz="1700" kern="1200" dirty="0">
              <a:sym typeface="Wingdings" panose="05000000000000000000" pitchFamily="2" charset="2"/>
            </a:rPr>
            <a:t></a:t>
          </a:r>
          <a:r>
            <a:rPr lang="en-US" sz="1700" kern="1200" dirty="0"/>
            <a:t> contradicts semi-strong and strong-form EMH.</a:t>
          </a:r>
        </a:p>
        <a:p>
          <a:pPr marL="171450" lvl="1" indent="-171450" algn="l" defTabSz="755650">
            <a:lnSpc>
              <a:spcPct val="100000"/>
            </a:lnSpc>
            <a:spcBef>
              <a:spcPct val="0"/>
            </a:spcBef>
            <a:spcAft>
              <a:spcPct val="20000"/>
            </a:spcAft>
            <a:buChar char="•"/>
          </a:pPr>
          <a:r>
            <a:rPr lang="en-US" sz="1700" kern="1200" dirty="0"/>
            <a:t>LSTMs can find patterns in data </a:t>
          </a:r>
          <a:r>
            <a:rPr lang="en-US" sz="1700" kern="1200" dirty="0">
              <a:sym typeface="Wingdings" panose="05000000000000000000" pitchFamily="2" charset="2"/>
            </a:rPr>
            <a:t></a:t>
          </a:r>
          <a:r>
            <a:rPr lang="en-US" sz="1700" kern="1200" dirty="0"/>
            <a:t> Random Walk doesn’t entirely hold.</a:t>
          </a:r>
        </a:p>
      </dsp:txBody>
      <dsp:txXfrm>
        <a:off x="0" y="1188423"/>
        <a:ext cx="6820506" cy="1229580"/>
      </dsp:txXfrm>
    </dsp:sp>
    <dsp:sp modelId="{A95825AC-5F35-FA4C-84FF-6E3F90228C5C}">
      <dsp:nvSpPr>
        <dsp:cNvPr id="0" name=""/>
        <dsp:cNvSpPr/>
      </dsp:nvSpPr>
      <dsp:spPr>
        <a:xfrm>
          <a:off x="0" y="2418003"/>
          <a:ext cx="6820506" cy="527670"/>
        </a:xfrm>
        <a:prstGeom prst="roundRect">
          <a:avLst/>
        </a:prstGeom>
        <a:solidFill>
          <a:schemeClr val="accent2">
            <a:hueOff val="-4028383"/>
            <a:satOff val="-7204"/>
            <a:lumOff val="107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Practical Implications</a:t>
          </a:r>
          <a:endParaRPr lang="en-US" sz="2200" kern="1200" dirty="0"/>
        </a:p>
      </dsp:txBody>
      <dsp:txXfrm>
        <a:off x="25759" y="2443762"/>
        <a:ext cx="6768988" cy="476152"/>
      </dsp:txXfrm>
    </dsp:sp>
    <dsp:sp modelId="{71674233-9FBF-DB48-AF0D-6E73E2AC8E5F}">
      <dsp:nvSpPr>
        <dsp:cNvPr id="0" name=""/>
        <dsp:cNvSpPr/>
      </dsp:nvSpPr>
      <dsp:spPr>
        <a:xfrm>
          <a:off x="0" y="2945673"/>
          <a:ext cx="6820506" cy="956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6551" tIns="27940" rIns="156464" bIns="27940" numCol="1" spcCol="1270" anchor="t" anchorCtr="0">
          <a:noAutofit/>
        </a:bodyPr>
        <a:lstStyle/>
        <a:p>
          <a:pPr marL="171450" lvl="1" indent="-171450" algn="l" defTabSz="755650">
            <a:lnSpc>
              <a:spcPct val="100000"/>
            </a:lnSpc>
            <a:spcBef>
              <a:spcPct val="0"/>
            </a:spcBef>
            <a:spcAft>
              <a:spcPct val="20000"/>
            </a:spcAft>
            <a:buChar char="•"/>
          </a:pPr>
          <a:r>
            <a:rPr lang="en-US" sz="1700" kern="1200" dirty="0"/>
            <a:t>Low-info assets are more vulnerable to manipulation and speculation.</a:t>
          </a:r>
        </a:p>
        <a:p>
          <a:pPr marL="171450" lvl="1" indent="-171450" algn="l" defTabSz="755650">
            <a:lnSpc>
              <a:spcPct val="100000"/>
            </a:lnSpc>
            <a:spcBef>
              <a:spcPct val="0"/>
            </a:spcBef>
            <a:spcAft>
              <a:spcPct val="20000"/>
            </a:spcAft>
            <a:buChar char="•"/>
          </a:pPr>
          <a:r>
            <a:rPr lang="en-US" sz="1700" kern="1200" dirty="0"/>
            <a:t>Lightweight ML tools can help generate alpha, especially with low-info.</a:t>
          </a:r>
        </a:p>
        <a:p>
          <a:pPr marL="171450" lvl="1" indent="-171450" algn="l" defTabSz="755650">
            <a:lnSpc>
              <a:spcPct val="100000"/>
            </a:lnSpc>
            <a:spcBef>
              <a:spcPct val="0"/>
            </a:spcBef>
            <a:spcAft>
              <a:spcPct val="20000"/>
            </a:spcAft>
            <a:buChar char="•"/>
          </a:pPr>
          <a:r>
            <a:rPr lang="en-US" sz="1700" kern="1200" dirty="0"/>
            <a:t>LSTMs are a scalable, flexible alternative to traditional models.</a:t>
          </a:r>
        </a:p>
      </dsp:txBody>
      <dsp:txXfrm>
        <a:off x="0" y="2945673"/>
        <a:ext cx="6820506" cy="956340"/>
      </dsp:txXfrm>
    </dsp:sp>
    <dsp:sp modelId="{3088CCDA-D45D-0149-8C50-8A701CC72815}">
      <dsp:nvSpPr>
        <dsp:cNvPr id="0" name=""/>
        <dsp:cNvSpPr/>
      </dsp:nvSpPr>
      <dsp:spPr>
        <a:xfrm>
          <a:off x="0" y="3902013"/>
          <a:ext cx="6820506" cy="527670"/>
        </a:xfrm>
        <a:prstGeom prst="roundRect">
          <a:avLst/>
        </a:prstGeom>
        <a:solidFill>
          <a:schemeClr val="accent2">
            <a:hueOff val="-8056765"/>
            <a:satOff val="-14407"/>
            <a:lumOff val="215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Limitations</a:t>
          </a:r>
          <a:endParaRPr lang="en-US" sz="2200" kern="1200" dirty="0"/>
        </a:p>
      </dsp:txBody>
      <dsp:txXfrm>
        <a:off x="25759" y="3927772"/>
        <a:ext cx="6768988" cy="476152"/>
      </dsp:txXfrm>
    </dsp:sp>
    <dsp:sp modelId="{3C243483-823D-0945-AA6C-5AF3BF333F00}">
      <dsp:nvSpPr>
        <dsp:cNvPr id="0" name=""/>
        <dsp:cNvSpPr/>
      </dsp:nvSpPr>
      <dsp:spPr>
        <a:xfrm>
          <a:off x="0" y="4429683"/>
          <a:ext cx="6820506" cy="1229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6551" tIns="27940" rIns="156464" bIns="27940" numCol="1" spcCol="1270" anchor="t" anchorCtr="0">
          <a:noAutofit/>
        </a:bodyPr>
        <a:lstStyle/>
        <a:p>
          <a:pPr marL="171450" lvl="1" indent="-171450" algn="l" defTabSz="755650">
            <a:lnSpc>
              <a:spcPct val="100000"/>
            </a:lnSpc>
            <a:spcBef>
              <a:spcPct val="0"/>
            </a:spcBef>
            <a:spcAft>
              <a:spcPct val="20000"/>
            </a:spcAft>
            <a:buChar char="•"/>
          </a:pPr>
          <a:r>
            <a:rPr lang="en-US" sz="1700" kern="1200" dirty="0"/>
            <a:t>Sample size: 30 assets, 60 trials, 2-year testing window </a:t>
          </a:r>
          <a:r>
            <a:rPr lang="en-US" sz="1700" kern="1200" dirty="0">
              <a:sym typeface="Wingdings" panose="05000000000000000000" pitchFamily="2" charset="2"/>
            </a:rPr>
            <a:t></a:t>
          </a:r>
          <a:r>
            <a:rPr lang="en-US" sz="1700" kern="1200" dirty="0"/>
            <a:t> more trials needed.</a:t>
          </a:r>
        </a:p>
        <a:p>
          <a:pPr marL="171450" lvl="1" indent="-171450" algn="l" defTabSz="755650">
            <a:lnSpc>
              <a:spcPct val="100000"/>
            </a:lnSpc>
            <a:spcBef>
              <a:spcPct val="0"/>
            </a:spcBef>
            <a:spcAft>
              <a:spcPct val="20000"/>
            </a:spcAft>
            <a:buChar char="•"/>
          </a:pPr>
          <a:r>
            <a:rPr lang="en-US" sz="1700" kern="1200" dirty="0"/>
            <a:t>Computational constraints: </a:t>
          </a:r>
          <a:r>
            <a:rPr lang="en-US" sz="1700" b="1" kern="1200" dirty="0"/>
            <a:t>time</a:t>
          </a:r>
          <a:r>
            <a:rPr lang="en-US" sz="1700" kern="1200" dirty="0"/>
            <a:t>, RAM &amp; VRAM, CPU &amp; GPU capacity.</a:t>
          </a:r>
        </a:p>
        <a:p>
          <a:pPr marL="171450" lvl="1" indent="-171450" algn="l" defTabSz="755650">
            <a:lnSpc>
              <a:spcPct val="100000"/>
            </a:lnSpc>
            <a:spcBef>
              <a:spcPct val="0"/>
            </a:spcBef>
            <a:spcAft>
              <a:spcPct val="20000"/>
            </a:spcAft>
            <a:buChar char="•"/>
          </a:pPr>
          <a:r>
            <a:rPr lang="en-US" sz="1700" kern="1200"/>
            <a:t>Black-box problem: AI models are too complex to fully understand.</a:t>
          </a:r>
        </a:p>
      </dsp:txBody>
      <dsp:txXfrm>
        <a:off x="0" y="4429683"/>
        <a:ext cx="6820506" cy="12295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D73A83-609F-7D44-B48F-49ACC2FDBF06}" type="datetimeFigureOut">
              <a:rPr lang="en-US" smtClean="0"/>
              <a:t>5/28/26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912302-6F75-FE43-B724-85C1DC80A42A}" type="slidenum">
              <a:rPr lang="en-US" smtClean="0"/>
              <a:t>‹#›</a:t>
            </a:fld>
            <a:endParaRPr lang="en-US"/>
          </a:p>
        </p:txBody>
      </p:sp>
    </p:spTree>
    <p:extLst>
      <p:ext uri="{BB962C8B-B14F-4D97-AF65-F5344CB8AC3E}">
        <p14:creationId xmlns:p14="http://schemas.microsoft.com/office/powerpoint/2010/main" val="2368299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912302-6F75-FE43-B724-85C1DC80A42A}" type="slidenum">
              <a:rPr lang="en-US" smtClean="0"/>
              <a:t>2</a:t>
            </a:fld>
            <a:endParaRPr lang="en-US"/>
          </a:p>
        </p:txBody>
      </p:sp>
    </p:spTree>
    <p:extLst>
      <p:ext uri="{BB962C8B-B14F-4D97-AF65-F5344CB8AC3E}">
        <p14:creationId xmlns:p14="http://schemas.microsoft.com/office/powerpoint/2010/main" val="3179451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Multicollinearity not an issue</a:t>
            </a:r>
          </a:p>
        </p:txBody>
      </p:sp>
      <p:sp>
        <p:nvSpPr>
          <p:cNvPr id="4" name="Slide Number Placeholder 3"/>
          <p:cNvSpPr>
            <a:spLocks noGrp="1"/>
          </p:cNvSpPr>
          <p:nvPr>
            <p:ph type="sldNum" sz="quarter" idx="5"/>
          </p:nvPr>
        </p:nvSpPr>
        <p:spPr/>
        <p:txBody>
          <a:bodyPr/>
          <a:lstStyle/>
          <a:p>
            <a:fld id="{8F912302-6F75-FE43-B724-85C1DC80A42A}" type="slidenum">
              <a:rPr lang="en-US" smtClean="0"/>
              <a:t>5</a:t>
            </a:fld>
            <a:endParaRPr lang="en-US"/>
          </a:p>
        </p:txBody>
      </p:sp>
    </p:spTree>
    <p:extLst>
      <p:ext uri="{BB962C8B-B14F-4D97-AF65-F5344CB8AC3E}">
        <p14:creationId xmlns:p14="http://schemas.microsoft.com/office/powerpoint/2010/main" val="990538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912302-6F75-FE43-B724-85C1DC80A42A}" type="slidenum">
              <a:rPr lang="en-US" smtClean="0"/>
              <a:t>15</a:t>
            </a:fld>
            <a:endParaRPr lang="en-US"/>
          </a:p>
        </p:txBody>
      </p:sp>
    </p:spTree>
    <p:extLst>
      <p:ext uri="{BB962C8B-B14F-4D97-AF65-F5344CB8AC3E}">
        <p14:creationId xmlns:p14="http://schemas.microsoft.com/office/powerpoint/2010/main" val="60398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912302-6F75-FE43-B724-85C1DC80A42A}" type="slidenum">
              <a:rPr lang="en-US" smtClean="0"/>
              <a:t>17</a:t>
            </a:fld>
            <a:endParaRPr lang="en-US"/>
          </a:p>
        </p:txBody>
      </p:sp>
    </p:spTree>
    <p:extLst>
      <p:ext uri="{BB962C8B-B14F-4D97-AF65-F5344CB8AC3E}">
        <p14:creationId xmlns:p14="http://schemas.microsoft.com/office/powerpoint/2010/main" val="1108560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like to shout out my advisor, Andrea </a:t>
            </a:r>
            <a:r>
              <a:rPr lang="en-US" dirty="0" err="1"/>
              <a:t>Golfari</a:t>
            </a:r>
            <a:r>
              <a:rPr lang="en-US" dirty="0"/>
              <a:t>, the only person whom I was able to talk with in the complete nonsensical jargon of this topic. I’d also like to thank my professors from the Econ department who got me interested in markets and efficiency in the first place.</a:t>
            </a:r>
          </a:p>
        </p:txBody>
      </p:sp>
      <p:sp>
        <p:nvSpPr>
          <p:cNvPr id="4" name="Slide Number Placeholder 3"/>
          <p:cNvSpPr>
            <a:spLocks noGrp="1"/>
          </p:cNvSpPr>
          <p:nvPr>
            <p:ph type="sldNum" sz="quarter" idx="5"/>
          </p:nvPr>
        </p:nvSpPr>
        <p:spPr/>
        <p:txBody>
          <a:bodyPr/>
          <a:lstStyle/>
          <a:p>
            <a:fld id="{8F912302-6F75-FE43-B724-85C1DC80A42A}" type="slidenum">
              <a:rPr lang="en-US" smtClean="0"/>
              <a:t>20</a:t>
            </a:fld>
            <a:endParaRPr lang="en-US"/>
          </a:p>
        </p:txBody>
      </p:sp>
    </p:spTree>
    <p:extLst>
      <p:ext uri="{BB962C8B-B14F-4D97-AF65-F5344CB8AC3E}">
        <p14:creationId xmlns:p14="http://schemas.microsoft.com/office/powerpoint/2010/main" val="3659731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5/28/26</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438030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5/28/26</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064596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5/28/26</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071840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5/28/26</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07158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5/28/26</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199452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5/28/26</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455261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5/28/26</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087464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5/28/26</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173016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5/28/26</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50580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5/28/26</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03211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5/28/26</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745901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5/28/26</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1977475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3E0473-C315-42D8-A82A-A2FE49DC6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23A251-68F2-43E5-812B-4BBAE1AF5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pic>
        <p:nvPicPr>
          <p:cNvPr id="4" name="Picture 3">
            <a:extLst>
              <a:ext uri="{FF2B5EF4-FFF2-40B4-BE49-F238E27FC236}">
                <a16:creationId xmlns:a16="http://schemas.microsoft.com/office/drawing/2014/main" id="{CC9C1385-672A-C826-A066-744FD9D3FD94}"/>
              </a:ext>
            </a:extLst>
          </p:cNvPr>
          <p:cNvPicPr>
            <a:picLocks noChangeAspect="1"/>
          </p:cNvPicPr>
          <p:nvPr/>
        </p:nvPicPr>
        <p:blipFill>
          <a:blip r:embed="rId2">
            <a:alphaModFix amt="40000"/>
          </a:blip>
          <a:srcRect t="27551" r="-1" b="16184"/>
          <a:stretch/>
        </p:blipFill>
        <p:spPr>
          <a:xfrm>
            <a:off x="3049" y="10"/>
            <a:ext cx="12188951" cy="6857990"/>
          </a:xfrm>
          <a:prstGeom prst="rect">
            <a:avLst/>
          </a:prstGeom>
        </p:spPr>
      </p:pic>
      <p:grpSp>
        <p:nvGrpSpPr>
          <p:cNvPr id="13" name="decorative circle">
            <a:extLst>
              <a:ext uri="{FF2B5EF4-FFF2-40B4-BE49-F238E27FC236}">
                <a16:creationId xmlns:a16="http://schemas.microsoft.com/office/drawing/2014/main" id="{0350AF23-2606-421F-AB7B-23D9B48F3E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14" name="Oval 13">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234B3CF-CF3C-00D1-1C67-94BB682FD176}"/>
              </a:ext>
            </a:extLst>
          </p:cNvPr>
          <p:cNvSpPr>
            <a:spLocks noGrp="1"/>
          </p:cNvSpPr>
          <p:nvPr>
            <p:ph type="ctrTitle"/>
          </p:nvPr>
        </p:nvSpPr>
        <p:spPr>
          <a:xfrm>
            <a:off x="2562606" y="1122363"/>
            <a:ext cx="7063739" cy="2387600"/>
          </a:xfrm>
        </p:spPr>
        <p:txBody>
          <a:bodyPr>
            <a:normAutofit/>
          </a:bodyPr>
          <a:lstStyle/>
          <a:p>
            <a:r>
              <a:rPr lang="en-US" dirty="0">
                <a:solidFill>
                  <a:srgbClr val="FFFFFF"/>
                </a:solidFill>
              </a:rPr>
              <a:t>NEURAL NETWORKS IN ASSET MANAGEMENT</a:t>
            </a:r>
          </a:p>
        </p:txBody>
      </p:sp>
      <p:sp>
        <p:nvSpPr>
          <p:cNvPr id="3" name="Subtitle 2">
            <a:extLst>
              <a:ext uri="{FF2B5EF4-FFF2-40B4-BE49-F238E27FC236}">
                <a16:creationId xmlns:a16="http://schemas.microsoft.com/office/drawing/2014/main" id="{A401E9E0-4754-3531-D3FE-7EDD819BBC5B}"/>
              </a:ext>
            </a:extLst>
          </p:cNvPr>
          <p:cNvSpPr>
            <a:spLocks noGrp="1"/>
          </p:cNvSpPr>
          <p:nvPr>
            <p:ph type="subTitle" idx="1"/>
          </p:nvPr>
        </p:nvSpPr>
        <p:spPr>
          <a:xfrm>
            <a:off x="2562606" y="3602038"/>
            <a:ext cx="7063739" cy="756602"/>
          </a:xfrm>
        </p:spPr>
        <p:txBody>
          <a:bodyPr>
            <a:normAutofit/>
          </a:bodyPr>
          <a:lstStyle/>
          <a:p>
            <a:r>
              <a:rPr lang="en-US" sz="2000" dirty="0">
                <a:solidFill>
                  <a:srgbClr val="FFFFFF"/>
                </a:solidFill>
              </a:rPr>
              <a:t>IDENTIFYING INEFFICIENCIES WITH SYSTEMIC MARKET FACTORS</a:t>
            </a:r>
          </a:p>
        </p:txBody>
      </p:sp>
      <p:sp>
        <p:nvSpPr>
          <p:cNvPr id="5" name="TextBox 4">
            <a:extLst>
              <a:ext uri="{FF2B5EF4-FFF2-40B4-BE49-F238E27FC236}">
                <a16:creationId xmlns:a16="http://schemas.microsoft.com/office/drawing/2014/main" id="{F187BC09-70ED-EAD4-5DFA-BC72686A0602}"/>
              </a:ext>
            </a:extLst>
          </p:cNvPr>
          <p:cNvSpPr txBox="1"/>
          <p:nvPr/>
        </p:nvSpPr>
        <p:spPr>
          <a:xfrm>
            <a:off x="4775126" y="4588038"/>
            <a:ext cx="2638697" cy="923330"/>
          </a:xfrm>
          <a:prstGeom prst="rect">
            <a:avLst/>
          </a:prstGeom>
          <a:noFill/>
        </p:spPr>
        <p:txBody>
          <a:bodyPr wrap="square" rtlCol="0">
            <a:spAutoFit/>
          </a:bodyPr>
          <a:lstStyle/>
          <a:p>
            <a:pPr algn="ctr"/>
            <a:r>
              <a:rPr lang="en-US" dirty="0">
                <a:solidFill>
                  <a:schemeClr val="bg1"/>
                </a:solidFill>
              </a:rPr>
              <a:t>By </a:t>
            </a:r>
            <a:r>
              <a:rPr lang="en-US" b="1" dirty="0">
                <a:solidFill>
                  <a:schemeClr val="bg1"/>
                </a:solidFill>
              </a:rPr>
              <a:t>AJ Fabbri</a:t>
            </a:r>
          </a:p>
          <a:p>
            <a:pPr algn="ctr"/>
            <a:r>
              <a:rPr lang="en-US" dirty="0">
                <a:solidFill>
                  <a:schemeClr val="bg1"/>
                </a:solidFill>
              </a:rPr>
              <a:t>Advisor: Andrea </a:t>
            </a:r>
            <a:r>
              <a:rPr lang="en-US" dirty="0" err="1">
                <a:solidFill>
                  <a:schemeClr val="bg1"/>
                </a:solidFill>
              </a:rPr>
              <a:t>Golfari</a:t>
            </a:r>
            <a:endParaRPr lang="en-US" dirty="0">
              <a:solidFill>
                <a:schemeClr val="bg1"/>
              </a:solidFill>
            </a:endParaRPr>
          </a:p>
          <a:p>
            <a:pPr algn="ctr"/>
            <a:r>
              <a:rPr lang="en-US" dirty="0">
                <a:solidFill>
                  <a:schemeClr val="bg1"/>
                </a:solidFill>
              </a:rPr>
              <a:t>Economics Major</a:t>
            </a:r>
          </a:p>
        </p:txBody>
      </p:sp>
      <p:pic>
        <p:nvPicPr>
          <p:cNvPr id="2052" name="Picture 4">
            <a:extLst>
              <a:ext uri="{FF2B5EF4-FFF2-40B4-BE49-F238E27FC236}">
                <a16:creationId xmlns:a16="http://schemas.microsoft.com/office/drawing/2014/main" id="{E7BB5701-5DA3-9C5B-2F9B-FF7E069E83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0101" y="5969489"/>
            <a:ext cx="2936371" cy="619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0999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8" name="Rectangle 1027">
            <a:extLst>
              <a:ext uri="{FF2B5EF4-FFF2-40B4-BE49-F238E27FC236}">
                <a16:creationId xmlns:a16="http://schemas.microsoft.com/office/drawing/2014/main" id="{458183E0-58D3-4C7F-97F0-2494113B3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28">
            <a:extLst>
              <a:ext uri="{FF2B5EF4-FFF2-40B4-BE49-F238E27FC236}">
                <a16:creationId xmlns:a16="http://schemas.microsoft.com/office/drawing/2014/main" id="{493D7220-9A41-4B89-8A05-2E854925ED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pic>
        <p:nvPicPr>
          <p:cNvPr id="1026" name="Picture 2" descr="Losing Money In Stocks: How &amp; Why It Happens | Angel One">
            <a:extLst>
              <a:ext uri="{FF2B5EF4-FFF2-40B4-BE49-F238E27FC236}">
                <a16:creationId xmlns:a16="http://schemas.microsoft.com/office/drawing/2014/main" id="{DD040F1E-0EFC-A0E1-9109-2DB00AFF0A0C}"/>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r="2" b="9863"/>
          <a:stretch/>
        </p:blipFill>
        <p:spPr bwMode="auto">
          <a:xfrm>
            <a:off x="1525" y="10"/>
            <a:ext cx="12188951" cy="6857990"/>
          </a:xfrm>
          <a:prstGeom prst="rect">
            <a:avLst/>
          </a:prstGeom>
          <a:noFill/>
          <a:extLst>
            <a:ext uri="{909E8E84-426E-40DD-AFC4-6F175D3DCCD1}">
              <a14:hiddenFill xmlns:a14="http://schemas.microsoft.com/office/drawing/2010/main">
                <a:solidFill>
                  <a:srgbClr val="FFFFFF"/>
                </a:solidFill>
              </a14:hiddenFill>
            </a:ext>
          </a:extLst>
        </p:spPr>
      </p:pic>
      <p:grpSp>
        <p:nvGrpSpPr>
          <p:cNvPr id="1030" name="decorative circles">
            <a:extLst>
              <a:ext uri="{FF2B5EF4-FFF2-40B4-BE49-F238E27FC236}">
                <a16:creationId xmlns:a16="http://schemas.microsoft.com/office/drawing/2014/main" id="{C1F869AB-954B-4EAB-8260-60AE9C8D0C6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1032" name="Oval 1031">
              <a:extLst>
                <a:ext uri="{FF2B5EF4-FFF2-40B4-BE49-F238E27FC236}">
                  <a16:creationId xmlns:a16="http://schemas.microsoft.com/office/drawing/2014/main" id="{73902316-BF90-4159-9FD2-6CFCCF7BE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Oval 1033">
              <a:extLst>
                <a:ext uri="{FF2B5EF4-FFF2-40B4-BE49-F238E27FC236}">
                  <a16:creationId xmlns:a16="http://schemas.microsoft.com/office/drawing/2014/main" id="{EF0C14E3-3AAA-4BA8-93F9-856D029676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Oval 1043">
              <a:extLst>
                <a:ext uri="{FF2B5EF4-FFF2-40B4-BE49-F238E27FC236}">
                  <a16:creationId xmlns:a16="http://schemas.microsoft.com/office/drawing/2014/main" id="{EECE6F6B-297F-4766-8C04-0960E9960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Oval 1044">
              <a:extLst>
                <a:ext uri="{FF2B5EF4-FFF2-40B4-BE49-F238E27FC236}">
                  <a16:creationId xmlns:a16="http://schemas.microsoft.com/office/drawing/2014/main" id="{44AE5C63-0522-4DDF-B67A-5DA271883B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Oval 1045">
              <a:extLst>
                <a:ext uri="{FF2B5EF4-FFF2-40B4-BE49-F238E27FC236}">
                  <a16:creationId xmlns:a16="http://schemas.microsoft.com/office/drawing/2014/main" id="{64F95A54-2855-4B65-82E3-A9D306CBA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Oval 1040">
              <a:extLst>
                <a:ext uri="{FF2B5EF4-FFF2-40B4-BE49-F238E27FC236}">
                  <a16:creationId xmlns:a16="http://schemas.microsoft.com/office/drawing/2014/main" id="{164F2D59-D40C-482F-BF5E-7FA622D97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Oval 1041">
              <a:extLst>
                <a:ext uri="{FF2B5EF4-FFF2-40B4-BE49-F238E27FC236}">
                  <a16:creationId xmlns:a16="http://schemas.microsoft.com/office/drawing/2014/main" id="{9DCE1484-E528-418A-9339-8410B8F71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Oval 1042">
              <a:extLst>
                <a:ext uri="{FF2B5EF4-FFF2-40B4-BE49-F238E27FC236}">
                  <a16:creationId xmlns:a16="http://schemas.microsoft.com/office/drawing/2014/main" id="{B471ADFB-A135-4594-B9A3-481A91AE2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B2A4850-9851-8EE8-570A-3AA8BDDEC80C}"/>
              </a:ext>
            </a:extLst>
          </p:cNvPr>
          <p:cNvSpPr>
            <a:spLocks noGrp="1"/>
          </p:cNvSpPr>
          <p:nvPr>
            <p:ph type="title"/>
          </p:nvPr>
        </p:nvSpPr>
        <p:spPr>
          <a:xfrm>
            <a:off x="3327722" y="777240"/>
            <a:ext cx="5782804" cy="2493876"/>
          </a:xfrm>
        </p:spPr>
        <p:txBody>
          <a:bodyPr anchor="b">
            <a:normAutofit/>
          </a:bodyPr>
          <a:lstStyle/>
          <a:p>
            <a:pPr algn="ctr"/>
            <a:r>
              <a:rPr lang="en-US" dirty="0">
                <a:solidFill>
                  <a:schemeClr val="bg1"/>
                </a:solidFill>
              </a:rPr>
              <a:t>Everyone says “Buy low, sell high.”</a:t>
            </a:r>
          </a:p>
        </p:txBody>
      </p:sp>
      <p:sp>
        <p:nvSpPr>
          <p:cNvPr id="3" name="Content Placeholder 2">
            <a:extLst>
              <a:ext uri="{FF2B5EF4-FFF2-40B4-BE49-F238E27FC236}">
                <a16:creationId xmlns:a16="http://schemas.microsoft.com/office/drawing/2014/main" id="{D837F8F6-C12B-DACA-43D2-9E2DF2B3977A}"/>
              </a:ext>
            </a:extLst>
          </p:cNvPr>
          <p:cNvSpPr>
            <a:spLocks noGrp="1"/>
          </p:cNvSpPr>
          <p:nvPr>
            <p:ph idx="1"/>
          </p:nvPr>
        </p:nvSpPr>
        <p:spPr>
          <a:xfrm>
            <a:off x="3327722" y="3584710"/>
            <a:ext cx="5782804" cy="1331530"/>
          </a:xfrm>
        </p:spPr>
        <p:txBody>
          <a:bodyPr anchor="t">
            <a:normAutofit/>
          </a:bodyPr>
          <a:lstStyle/>
          <a:p>
            <a:pPr marL="0" indent="0" algn="ctr">
              <a:buNone/>
            </a:pPr>
            <a:r>
              <a:rPr lang="en-US" sz="3200" dirty="0">
                <a:solidFill>
                  <a:srgbClr val="FFFFFF"/>
                </a:solidFill>
              </a:rPr>
              <a:t>We often do the opposite.</a:t>
            </a:r>
          </a:p>
          <a:p>
            <a:pPr marL="0" indent="0" algn="ctr">
              <a:buNone/>
            </a:pPr>
            <a:r>
              <a:rPr lang="en-US" sz="3200" dirty="0">
                <a:solidFill>
                  <a:srgbClr val="FFFFFF"/>
                </a:solidFill>
              </a:rPr>
              <a:t>Can machines help?</a:t>
            </a:r>
          </a:p>
        </p:txBody>
      </p:sp>
    </p:spTree>
    <p:extLst>
      <p:ext uri="{BB962C8B-B14F-4D97-AF65-F5344CB8AC3E}">
        <p14:creationId xmlns:p14="http://schemas.microsoft.com/office/powerpoint/2010/main" val="1610722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Poster of Louis Bachelier">
            <a:extLst>
              <a:ext uri="{FF2B5EF4-FFF2-40B4-BE49-F238E27FC236}">
                <a16:creationId xmlns:a16="http://schemas.microsoft.com/office/drawing/2014/main" id="{28A300BA-36D9-2D98-B36E-9BD421510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472836"/>
            <a:ext cx="1902278" cy="23851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12 Questions for Nobel Prize Winner Eugene Fama – Chicago Magazine">
            <a:extLst>
              <a:ext uri="{FF2B5EF4-FFF2-40B4-BE49-F238E27FC236}">
                <a16:creationId xmlns:a16="http://schemas.microsoft.com/office/drawing/2014/main" id="{75C2A69A-4742-BF4D-8C45-2B00EF2B8F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6658" y="4338320"/>
            <a:ext cx="2099150" cy="251968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4B5F939-8339-649C-68E3-84A1E0477D28}"/>
              </a:ext>
            </a:extLst>
          </p:cNvPr>
          <p:cNvSpPr>
            <a:spLocks noGrp="1"/>
          </p:cNvSpPr>
          <p:nvPr>
            <p:ph type="title"/>
          </p:nvPr>
        </p:nvSpPr>
        <p:spPr/>
        <p:txBody>
          <a:bodyPr/>
          <a:lstStyle/>
          <a:p>
            <a:r>
              <a:rPr lang="en-US" dirty="0"/>
              <a:t>Random Walk and EMH</a:t>
            </a:r>
          </a:p>
        </p:txBody>
      </p:sp>
      <p:sp>
        <p:nvSpPr>
          <p:cNvPr id="3" name="Content Placeholder 2">
            <a:extLst>
              <a:ext uri="{FF2B5EF4-FFF2-40B4-BE49-F238E27FC236}">
                <a16:creationId xmlns:a16="http://schemas.microsoft.com/office/drawing/2014/main" id="{0251452F-6090-EDFC-1ADA-1C023FFC1710}"/>
              </a:ext>
            </a:extLst>
          </p:cNvPr>
          <p:cNvSpPr>
            <a:spLocks noGrp="1"/>
          </p:cNvSpPr>
          <p:nvPr>
            <p:ph sz="half" idx="1"/>
          </p:nvPr>
        </p:nvSpPr>
        <p:spPr>
          <a:xfrm>
            <a:off x="777240" y="1825625"/>
            <a:ext cx="4780280" cy="4351338"/>
          </a:xfrm>
        </p:spPr>
        <p:txBody>
          <a:bodyPr/>
          <a:lstStyle/>
          <a:p>
            <a:pPr marL="0" indent="0">
              <a:buNone/>
            </a:pPr>
            <a:r>
              <a:rPr lang="en-US" sz="2400" dirty="0"/>
              <a:t>1900: Louis Bachelier’s Random Walk Theory</a:t>
            </a:r>
          </a:p>
          <a:p>
            <a:r>
              <a:rPr lang="en-US" dirty="0"/>
              <a:t>Prices follow a random pattern in the short to medium term;</a:t>
            </a:r>
            <a:r>
              <a:rPr lang="en-US" dirty="0">
                <a:sym typeface="Wingdings" pitchFamily="2" charset="2"/>
              </a:rPr>
              <a:t> </a:t>
            </a:r>
            <a:r>
              <a:rPr lang="en-US" dirty="0"/>
              <a:t>unpredictable.</a:t>
            </a:r>
          </a:p>
          <a:p>
            <a:r>
              <a:rPr lang="en-US" dirty="0"/>
              <a:t>Movements reflect past pricing, current pricing, and external factors.</a:t>
            </a:r>
          </a:p>
        </p:txBody>
      </p:sp>
      <p:sp>
        <p:nvSpPr>
          <p:cNvPr id="4" name="Content Placeholder 3">
            <a:extLst>
              <a:ext uri="{FF2B5EF4-FFF2-40B4-BE49-F238E27FC236}">
                <a16:creationId xmlns:a16="http://schemas.microsoft.com/office/drawing/2014/main" id="{8047B362-D951-8D47-2006-F4C29E703C40}"/>
              </a:ext>
            </a:extLst>
          </p:cNvPr>
          <p:cNvSpPr>
            <a:spLocks noGrp="1"/>
          </p:cNvSpPr>
          <p:nvPr>
            <p:ph sz="half" idx="2"/>
          </p:nvPr>
        </p:nvSpPr>
        <p:spPr>
          <a:xfrm>
            <a:off x="5557520" y="1825625"/>
            <a:ext cx="6350000" cy="4351338"/>
          </a:xfrm>
        </p:spPr>
        <p:txBody>
          <a:bodyPr/>
          <a:lstStyle/>
          <a:p>
            <a:pPr marL="0" indent="0">
              <a:buNone/>
            </a:pPr>
            <a:r>
              <a:rPr lang="en-US" sz="2400" dirty="0"/>
              <a:t>1960: Eugene Fama’s Efficient Market Hypothesis</a:t>
            </a:r>
          </a:p>
          <a:p>
            <a:r>
              <a:rPr lang="en-US" dirty="0"/>
              <a:t>Asset prices instantly reflect all available information; no exploitable edge</a:t>
            </a:r>
          </a:p>
          <a:p>
            <a:pPr lvl="1"/>
            <a:r>
              <a:rPr lang="en-US" b="1" dirty="0"/>
              <a:t>Weak form: </a:t>
            </a:r>
            <a:r>
              <a:rPr lang="en-US" b="0" i="0" u="none" strike="noStrike" dirty="0">
                <a:effectLst/>
              </a:rPr>
              <a:t>Prices reflect all </a:t>
            </a:r>
            <a:r>
              <a:rPr lang="en-US" i="0" u="none" strike="noStrike" dirty="0">
                <a:effectLst/>
              </a:rPr>
              <a:t>past trading data </a:t>
            </a:r>
            <a:r>
              <a:rPr lang="en-US" b="0" i="0" u="none" strike="noStrike" dirty="0">
                <a:effectLst/>
              </a:rPr>
              <a:t>(price, volume, </a:t>
            </a:r>
            <a:r>
              <a:rPr lang="en-US" b="0" i="0" u="none" strike="noStrike" dirty="0" err="1">
                <a:effectLst/>
              </a:rPr>
              <a:t>technicals</a:t>
            </a:r>
            <a:r>
              <a:rPr lang="en-US" b="0" i="0" u="none" strike="noStrike" dirty="0">
                <a:effectLst/>
              </a:rPr>
              <a:t>).</a:t>
            </a:r>
          </a:p>
          <a:p>
            <a:pPr lvl="1"/>
            <a:r>
              <a:rPr lang="en-US" b="1" dirty="0"/>
              <a:t>Semi-strong: </a:t>
            </a:r>
            <a:r>
              <a:rPr lang="en-US" dirty="0"/>
              <a:t>Weak form + all public info (earnings, news, etc.).</a:t>
            </a:r>
          </a:p>
          <a:p>
            <a:pPr lvl="1"/>
            <a:r>
              <a:rPr lang="en-US" b="1" dirty="0"/>
              <a:t>Strong form: </a:t>
            </a:r>
            <a:r>
              <a:rPr lang="en-US" dirty="0"/>
              <a:t>Prices reflect ALL info, including insider knowledge.</a:t>
            </a:r>
            <a:endParaRPr lang="en-US" b="1" dirty="0"/>
          </a:p>
        </p:txBody>
      </p:sp>
      <p:cxnSp>
        <p:nvCxnSpPr>
          <p:cNvPr id="11" name="Curved Connector 10">
            <a:extLst>
              <a:ext uri="{FF2B5EF4-FFF2-40B4-BE49-F238E27FC236}">
                <a16:creationId xmlns:a16="http://schemas.microsoft.com/office/drawing/2014/main" id="{0A64A40A-6762-0428-B39E-8754DDD60504}"/>
              </a:ext>
            </a:extLst>
          </p:cNvPr>
          <p:cNvCxnSpPr>
            <a:cxnSpLocks/>
          </p:cNvCxnSpPr>
          <p:nvPr/>
        </p:nvCxnSpPr>
        <p:spPr>
          <a:xfrm flipV="1">
            <a:off x="3102429" y="4931229"/>
            <a:ext cx="5706835" cy="1380671"/>
          </a:xfrm>
          <a:prstGeom prst="curvedConnector3">
            <a:avLst/>
          </a:prstGeom>
          <a:ln w="12700">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73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AEAAA-E593-142A-744C-E02BD8F8D1F2}"/>
              </a:ext>
            </a:extLst>
          </p:cNvPr>
          <p:cNvSpPr>
            <a:spLocks noGrp="1"/>
          </p:cNvSpPr>
          <p:nvPr>
            <p:ph type="title"/>
          </p:nvPr>
        </p:nvSpPr>
        <p:spPr/>
        <p:txBody>
          <a:bodyPr/>
          <a:lstStyle/>
          <a:p>
            <a:r>
              <a:rPr lang="en-US" dirty="0"/>
              <a:t>Why Machine Learning?</a:t>
            </a:r>
          </a:p>
        </p:txBody>
      </p:sp>
      <p:sp>
        <p:nvSpPr>
          <p:cNvPr id="3" name="Content Placeholder 2">
            <a:extLst>
              <a:ext uri="{FF2B5EF4-FFF2-40B4-BE49-F238E27FC236}">
                <a16:creationId xmlns:a16="http://schemas.microsoft.com/office/drawing/2014/main" id="{86FA1A46-E897-3BF3-FB2A-06428BA64E21}"/>
              </a:ext>
            </a:extLst>
          </p:cNvPr>
          <p:cNvSpPr>
            <a:spLocks noGrp="1"/>
          </p:cNvSpPr>
          <p:nvPr>
            <p:ph idx="1"/>
          </p:nvPr>
        </p:nvSpPr>
        <p:spPr/>
        <p:txBody>
          <a:bodyPr/>
          <a:lstStyle/>
          <a:p>
            <a:pPr marL="0" indent="0">
              <a:buNone/>
            </a:pPr>
            <a:r>
              <a:rPr lang="en-US" dirty="0"/>
              <a:t>Traditional models (ARIMA, ARCH, linear regression) only use past prices and follow set patterns. </a:t>
            </a:r>
          </a:p>
          <a:p>
            <a:r>
              <a:rPr lang="en-US" dirty="0"/>
              <a:t>They often miss nonlinear/non-repeating patterns and/or external factors.</a:t>
            </a:r>
          </a:p>
          <a:p>
            <a:pPr marL="0" indent="0">
              <a:buNone/>
            </a:pPr>
            <a:r>
              <a:rPr lang="en-US" dirty="0"/>
              <a:t>ML can learn nonlinear patterns across many inputs.</a:t>
            </a:r>
          </a:p>
        </p:txBody>
      </p:sp>
      <p:pic>
        <p:nvPicPr>
          <p:cNvPr id="2052" name="Picture 4" descr="Neural Networks by Analogy with Linear Regression · Joshua Goings">
            <a:extLst>
              <a:ext uri="{FF2B5EF4-FFF2-40B4-BE49-F238E27FC236}">
                <a16:creationId xmlns:a16="http://schemas.microsoft.com/office/drawing/2014/main" id="{4C7F504A-ED1C-A6C6-1C07-C503B355FA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6800" y="2550160"/>
            <a:ext cx="4647960" cy="36250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ARIMA(0,0,0)x(0,1,0): Seasonal random walk model">
            <a:extLst>
              <a:ext uri="{FF2B5EF4-FFF2-40B4-BE49-F238E27FC236}">
                <a16:creationId xmlns:a16="http://schemas.microsoft.com/office/drawing/2014/main" id="{BEF66A6F-B896-0E4C-6A7D-F9B2E033FD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3342639"/>
            <a:ext cx="5375802" cy="2834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189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42ED4-BA1C-543C-C070-0A6F60157D7D}"/>
              </a:ext>
            </a:extLst>
          </p:cNvPr>
          <p:cNvSpPr>
            <a:spLocks noGrp="1"/>
          </p:cNvSpPr>
          <p:nvPr>
            <p:ph type="title"/>
          </p:nvPr>
        </p:nvSpPr>
        <p:spPr>
          <a:xfrm>
            <a:off x="777240" y="365124"/>
            <a:ext cx="5095240" cy="1325563"/>
          </a:xfrm>
        </p:spPr>
        <p:txBody>
          <a:bodyPr>
            <a:normAutofit fontScale="90000"/>
          </a:bodyPr>
          <a:lstStyle/>
          <a:p>
            <a:r>
              <a:rPr lang="en-US" dirty="0"/>
              <a:t>What is a Neural Network?</a:t>
            </a:r>
          </a:p>
        </p:txBody>
      </p:sp>
      <p:sp>
        <p:nvSpPr>
          <p:cNvPr id="3" name="Content Placeholder 2">
            <a:extLst>
              <a:ext uri="{FF2B5EF4-FFF2-40B4-BE49-F238E27FC236}">
                <a16:creationId xmlns:a16="http://schemas.microsoft.com/office/drawing/2014/main" id="{F8EEC6BE-7692-654A-A6EE-B434EA3C2F9F}"/>
              </a:ext>
            </a:extLst>
          </p:cNvPr>
          <p:cNvSpPr>
            <a:spLocks noGrp="1"/>
          </p:cNvSpPr>
          <p:nvPr>
            <p:ph idx="1"/>
          </p:nvPr>
        </p:nvSpPr>
        <p:spPr>
          <a:xfrm>
            <a:off x="777240" y="1825624"/>
            <a:ext cx="10659110" cy="4667251"/>
          </a:xfrm>
        </p:spPr>
        <p:txBody>
          <a:bodyPr>
            <a:normAutofit fontScale="92500" lnSpcReduction="20000"/>
          </a:bodyPr>
          <a:lstStyle/>
          <a:p>
            <a:pPr algn="l">
              <a:buNone/>
            </a:pPr>
            <a:r>
              <a:rPr lang="en-US" dirty="0">
                <a:solidFill>
                  <a:srgbClr val="000000"/>
                </a:solidFill>
              </a:rPr>
              <a:t> A m</a:t>
            </a:r>
            <a:r>
              <a:rPr lang="en-US" b="0" i="0" u="none" strike="noStrike" dirty="0">
                <a:solidFill>
                  <a:srgbClr val="000000"/>
                </a:solidFill>
                <a:effectLst/>
              </a:rPr>
              <a:t>odel made of layers of </a:t>
            </a:r>
            <a:r>
              <a:rPr lang="en-US" b="1" i="0" u="none" strike="noStrike" dirty="0">
                <a:solidFill>
                  <a:srgbClr val="000000"/>
                </a:solidFill>
                <a:effectLst/>
              </a:rPr>
              <a:t>neurons</a:t>
            </a:r>
            <a:r>
              <a:rPr lang="en-US" b="0" i="0" u="none" strike="noStrike" dirty="0">
                <a:solidFill>
                  <a:srgbClr val="000000"/>
                </a:solidFill>
                <a:effectLst/>
              </a:rPr>
              <a:t>.</a:t>
            </a:r>
          </a:p>
          <a:p>
            <a:pPr algn="l">
              <a:buNone/>
            </a:pPr>
            <a:endParaRPr lang="en-US" b="0" i="0" u="none" strike="noStrike" dirty="0">
              <a:solidFill>
                <a:srgbClr val="000000"/>
              </a:solidFill>
              <a:effectLst/>
            </a:endParaRPr>
          </a:p>
          <a:p>
            <a:pPr algn="l">
              <a:buFont typeface="Arial" panose="020B0604020202020204" pitchFamily="34" charset="0"/>
              <a:buChar char="•"/>
            </a:pPr>
            <a:r>
              <a:rPr lang="en-US" b="1" i="0" u="none" strike="noStrike" dirty="0">
                <a:solidFill>
                  <a:srgbClr val="000000"/>
                </a:solidFill>
                <a:effectLst/>
              </a:rPr>
              <a:t>Input layer</a:t>
            </a:r>
            <a:r>
              <a:rPr lang="en-US" dirty="0">
                <a:solidFill>
                  <a:srgbClr val="000000"/>
                </a:solidFill>
              </a:rPr>
              <a:t>:</a:t>
            </a:r>
          </a:p>
          <a:p>
            <a:pPr lvl="1"/>
            <a:r>
              <a:rPr lang="en-US" b="0" i="0" u="none" strike="noStrike" dirty="0">
                <a:solidFill>
                  <a:srgbClr val="000000"/>
                </a:solidFill>
                <a:effectLst/>
                <a:latin typeface="-webkit-standard"/>
              </a:rPr>
              <a:t>One node per independent variable</a:t>
            </a:r>
          </a:p>
          <a:p>
            <a:pPr marL="457200" lvl="1" indent="0">
              <a:buNone/>
            </a:pPr>
            <a:r>
              <a:rPr lang="en-US" b="0" i="0" u="none" strike="noStrike" dirty="0">
                <a:solidFill>
                  <a:srgbClr val="000000"/>
                </a:solidFill>
                <a:effectLst/>
                <a:latin typeface="-webkit-standard"/>
              </a:rPr>
              <a:t>	(ex: price, volume, factor values)</a:t>
            </a:r>
            <a:endParaRPr lang="en-US" dirty="0">
              <a:solidFill>
                <a:srgbClr val="000000"/>
              </a:solidFill>
            </a:endParaRPr>
          </a:p>
          <a:p>
            <a:pPr algn="l">
              <a:buFont typeface="Arial" panose="020B0604020202020204" pitchFamily="34" charset="0"/>
              <a:buChar char="•"/>
            </a:pPr>
            <a:r>
              <a:rPr lang="en-US" b="1" i="0" u="none" strike="noStrike" dirty="0">
                <a:solidFill>
                  <a:srgbClr val="000000"/>
                </a:solidFill>
                <a:effectLst/>
              </a:rPr>
              <a:t>Hidden layers</a:t>
            </a:r>
            <a:r>
              <a:rPr lang="en-US" dirty="0">
                <a:solidFill>
                  <a:srgbClr val="000000"/>
                </a:solidFill>
              </a:rPr>
              <a:t>:</a:t>
            </a:r>
          </a:p>
          <a:p>
            <a:pPr lvl="1"/>
            <a:r>
              <a:rPr lang="en-US" b="0" i="0" u="none" strike="noStrike" dirty="0">
                <a:solidFill>
                  <a:srgbClr val="000000"/>
                </a:solidFill>
                <a:effectLst/>
                <a:latin typeface="-webkit-standard"/>
              </a:rPr>
              <a:t>Create new </a:t>
            </a:r>
            <a:r>
              <a:rPr lang="en-US" b="1" i="0" u="none" strike="noStrike" dirty="0">
                <a:solidFill>
                  <a:srgbClr val="000000"/>
                </a:solidFill>
                <a:effectLst/>
                <a:latin typeface="-webkit-standard"/>
              </a:rPr>
              <a:t>features</a:t>
            </a:r>
            <a:r>
              <a:rPr lang="en-US" b="0" i="0" u="none" strike="noStrike" dirty="0">
                <a:solidFill>
                  <a:srgbClr val="000000"/>
                </a:solidFill>
                <a:effectLst/>
                <a:latin typeface="-webkit-standard"/>
              </a:rPr>
              <a:t> by combining inputs (like abstract interaction terms)</a:t>
            </a:r>
          </a:p>
          <a:p>
            <a:pPr lvl="1"/>
            <a:r>
              <a:rPr lang="en-US" dirty="0">
                <a:solidFill>
                  <a:srgbClr val="000000"/>
                </a:solidFill>
                <a:latin typeface="-webkit-standard"/>
              </a:rPr>
              <a:t>Allow the </a:t>
            </a:r>
            <a:r>
              <a:rPr lang="en-US" b="0" i="0" u="none" strike="noStrike" dirty="0">
                <a:solidFill>
                  <a:srgbClr val="000000"/>
                </a:solidFill>
                <a:effectLst/>
                <a:latin typeface="-webkit-standard"/>
              </a:rPr>
              <a:t>network to learn complex, non‑linear relationships</a:t>
            </a:r>
            <a:endParaRPr lang="en-US" b="0" i="0" u="none" strike="noStrike" dirty="0">
              <a:solidFill>
                <a:srgbClr val="000000"/>
              </a:solidFill>
              <a:effectLst/>
            </a:endParaRPr>
          </a:p>
          <a:p>
            <a:pPr algn="l">
              <a:buFont typeface="Arial" panose="020B0604020202020204" pitchFamily="34" charset="0"/>
              <a:buChar char="•"/>
            </a:pPr>
            <a:r>
              <a:rPr lang="en-US" b="1" i="0" u="none" strike="noStrike" dirty="0">
                <a:solidFill>
                  <a:srgbClr val="000000"/>
                </a:solidFill>
                <a:effectLst/>
              </a:rPr>
              <a:t>Output layer</a:t>
            </a:r>
            <a:r>
              <a:rPr lang="en-US" dirty="0">
                <a:solidFill>
                  <a:srgbClr val="000000"/>
                </a:solidFill>
              </a:rPr>
              <a:t>:</a:t>
            </a:r>
          </a:p>
          <a:p>
            <a:pPr lvl="1"/>
            <a:r>
              <a:rPr lang="en-US" b="0" i="0" u="none" strike="noStrike" dirty="0">
                <a:solidFill>
                  <a:srgbClr val="000000"/>
                </a:solidFill>
                <a:effectLst/>
                <a:latin typeface="-webkit-standard"/>
              </a:rPr>
              <a:t>One node for regression (ex: next‑day price)</a:t>
            </a:r>
          </a:p>
          <a:p>
            <a:pPr lvl="1"/>
            <a:r>
              <a:rPr lang="en-US" b="0" i="0" u="none" strike="noStrike" dirty="0">
                <a:solidFill>
                  <a:srgbClr val="000000"/>
                </a:solidFill>
                <a:effectLst/>
                <a:latin typeface="-webkit-standard"/>
              </a:rPr>
              <a:t>Or multiple nodes for classification (classification probabilities or a multi-day sequence)</a:t>
            </a:r>
          </a:p>
          <a:p>
            <a:pPr marL="457200" lvl="1" indent="0">
              <a:buNone/>
            </a:pPr>
            <a:endParaRPr lang="en-US" dirty="0">
              <a:solidFill>
                <a:srgbClr val="000000"/>
              </a:solidFill>
            </a:endParaRPr>
          </a:p>
          <a:p>
            <a:pPr algn="l">
              <a:buNone/>
            </a:pPr>
            <a:r>
              <a:rPr lang="en-US" b="1" i="0" u="none" strike="noStrike" dirty="0">
                <a:solidFill>
                  <a:srgbClr val="000000"/>
                </a:solidFill>
                <a:effectLst/>
              </a:rPr>
              <a:t>How It Works:</a:t>
            </a:r>
            <a:endParaRPr lang="en-US" b="0" i="0" u="none" strike="noStrike" dirty="0">
              <a:solidFill>
                <a:srgbClr val="000000"/>
              </a:solidFill>
              <a:effectLst/>
            </a:endParaRPr>
          </a:p>
          <a:p>
            <a:pPr algn="l">
              <a:buFont typeface="+mj-lt"/>
              <a:buAutoNum type="arabicPeriod"/>
            </a:pPr>
            <a:r>
              <a:rPr lang="en-US" b="0" i="0" u="none" strike="noStrike" dirty="0">
                <a:solidFill>
                  <a:srgbClr val="000000"/>
                </a:solidFill>
                <a:effectLst/>
              </a:rPr>
              <a:t>Hidden layers mix inputs into new features.</a:t>
            </a:r>
          </a:p>
          <a:p>
            <a:pPr>
              <a:buFont typeface="+mj-lt"/>
              <a:buAutoNum type="arabicPeriod"/>
            </a:pPr>
            <a:r>
              <a:rPr lang="en-US" b="0" i="0" u="none" strike="noStrike" dirty="0">
                <a:solidFill>
                  <a:srgbClr val="000000"/>
                </a:solidFill>
                <a:effectLst/>
              </a:rPr>
              <a:t>Each feature gets a coefficient that measures its impact (like </a:t>
            </a:r>
            <a:r>
              <a:rPr lang="el-GR" b="0" i="0" u="none" strike="noStrike" dirty="0">
                <a:solidFill>
                  <a:srgbClr val="000000"/>
                </a:solidFill>
                <a:effectLst/>
              </a:rPr>
              <a:t>β</a:t>
            </a:r>
            <a:r>
              <a:rPr lang="en-US" b="0" i="0" u="none" strike="noStrike" dirty="0">
                <a:solidFill>
                  <a:srgbClr val="000000"/>
                </a:solidFill>
                <a:effectLst/>
              </a:rPr>
              <a:t> in linear regression</a:t>
            </a:r>
            <a:r>
              <a:rPr lang="en-US" dirty="0">
                <a:solidFill>
                  <a:srgbClr val="000000"/>
                </a:solidFill>
              </a:rPr>
              <a:t>)</a:t>
            </a:r>
            <a:r>
              <a:rPr lang="en-US" b="0" i="0" u="none" strike="noStrike" dirty="0">
                <a:solidFill>
                  <a:srgbClr val="000000"/>
                </a:solidFill>
                <a:effectLst/>
              </a:rPr>
              <a:t>.</a:t>
            </a:r>
          </a:p>
          <a:p>
            <a:pPr algn="l">
              <a:buFont typeface="+mj-lt"/>
              <a:buAutoNum type="arabicPeriod"/>
            </a:pPr>
            <a:r>
              <a:rPr lang="en-US" b="0" i="0" u="none" strike="noStrike" dirty="0">
                <a:solidFill>
                  <a:srgbClr val="000000"/>
                </a:solidFill>
                <a:effectLst/>
              </a:rPr>
              <a:t>Final node adds up those weighted features to predict something.</a:t>
            </a:r>
          </a:p>
          <a:p>
            <a:pPr marL="0" indent="0" algn="l">
              <a:buNone/>
            </a:pPr>
            <a:endParaRPr lang="en-US" b="0" i="0" u="none" strike="noStrike" dirty="0">
              <a:solidFill>
                <a:srgbClr val="000000"/>
              </a:solidFill>
              <a:effectLst/>
            </a:endParaRPr>
          </a:p>
          <a:p>
            <a:pPr marL="0" indent="0" algn="l">
              <a:buNone/>
            </a:pPr>
            <a:endParaRPr lang="en-US" b="0" i="0" u="none" strike="noStrike" dirty="0">
              <a:solidFill>
                <a:srgbClr val="000000"/>
              </a:solidFill>
              <a:effectLst/>
            </a:endParaRPr>
          </a:p>
        </p:txBody>
      </p:sp>
      <p:pic>
        <p:nvPicPr>
          <p:cNvPr id="4" name="Picture 2" descr="What is a Deep Learning Neural Net, or Deep Neural Network? Part 4">
            <a:extLst>
              <a:ext uri="{FF2B5EF4-FFF2-40B4-BE49-F238E27FC236}">
                <a16:creationId xmlns:a16="http://schemas.microsoft.com/office/drawing/2014/main" id="{871ECB3C-A5B5-574D-7951-53F1D9D1A3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5375" y="562610"/>
            <a:ext cx="6239394" cy="2332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994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F9F1-A5B8-919F-C44F-E055EFEB662B}"/>
              </a:ext>
            </a:extLst>
          </p:cNvPr>
          <p:cNvSpPr>
            <a:spLocks noGrp="1"/>
          </p:cNvSpPr>
          <p:nvPr>
            <p:ph type="title"/>
          </p:nvPr>
        </p:nvSpPr>
        <p:spPr/>
        <p:txBody>
          <a:bodyPr/>
          <a:lstStyle/>
          <a:p>
            <a:r>
              <a:rPr lang="en-US" dirty="0"/>
              <a:t>Recurrent Neural Network (RNN)</a:t>
            </a:r>
          </a:p>
        </p:txBody>
      </p:sp>
      <p:sp>
        <p:nvSpPr>
          <p:cNvPr id="3" name="Content Placeholder 2">
            <a:extLst>
              <a:ext uri="{FF2B5EF4-FFF2-40B4-BE49-F238E27FC236}">
                <a16:creationId xmlns:a16="http://schemas.microsoft.com/office/drawing/2014/main" id="{48808565-D60F-5B1B-666E-522E8C8381B7}"/>
              </a:ext>
            </a:extLst>
          </p:cNvPr>
          <p:cNvSpPr>
            <a:spLocks noGrp="1"/>
          </p:cNvSpPr>
          <p:nvPr>
            <p:ph idx="1"/>
          </p:nvPr>
        </p:nvSpPr>
        <p:spPr>
          <a:xfrm>
            <a:off x="777240" y="2290052"/>
            <a:ext cx="5318760" cy="3480828"/>
          </a:xfrm>
        </p:spPr>
        <p:txBody>
          <a:bodyPr>
            <a:normAutofit/>
          </a:bodyPr>
          <a:lstStyle/>
          <a:p>
            <a:pPr marL="0" indent="0">
              <a:buNone/>
            </a:pPr>
            <a:r>
              <a:rPr lang="en-US" dirty="0"/>
              <a:t>At each time step, new inputs (e.g., daily prices) enter the network.</a:t>
            </a:r>
          </a:p>
          <a:p>
            <a:pPr marL="0" indent="0">
              <a:buNone/>
            </a:pPr>
            <a:r>
              <a:rPr lang="en-US" dirty="0"/>
              <a:t>The hidden layer’s outputs loop back in.</a:t>
            </a:r>
          </a:p>
          <a:p>
            <a:r>
              <a:rPr lang="en-US" dirty="0">
                <a:solidFill>
                  <a:srgbClr val="000000"/>
                </a:solidFill>
                <a:latin typeface="-webkit-standard"/>
              </a:rPr>
              <a:t>Remembers useful </a:t>
            </a:r>
            <a:r>
              <a:rPr lang="en-US" b="0" i="0" u="none" strike="noStrike" dirty="0">
                <a:solidFill>
                  <a:srgbClr val="000000"/>
                </a:solidFill>
                <a:effectLst/>
                <a:latin typeface="-webkit-standard"/>
              </a:rPr>
              <a:t>patterns from past steps using trained weights.</a:t>
            </a:r>
          </a:p>
          <a:p>
            <a:r>
              <a:rPr lang="en-US" dirty="0"/>
              <a:t>Feedback (recurrence) lets the model learn trends, seasonality, and lagged effects.</a:t>
            </a:r>
          </a:p>
        </p:txBody>
      </p:sp>
      <p:pic>
        <p:nvPicPr>
          <p:cNvPr id="3074" name="Picture 2" descr="How Recurrent Neural Network (RNN) Works">
            <a:extLst>
              <a:ext uri="{FF2B5EF4-FFF2-40B4-BE49-F238E27FC236}">
                <a16:creationId xmlns:a16="http://schemas.microsoft.com/office/drawing/2014/main" id="{642BBB84-39CF-9AF5-1F56-681A1269C1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2560" y="1825624"/>
            <a:ext cx="4923791" cy="3644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379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95D67-9B60-B2DB-010E-E0F152082D24}"/>
              </a:ext>
            </a:extLst>
          </p:cNvPr>
          <p:cNvSpPr>
            <a:spLocks noGrp="1"/>
          </p:cNvSpPr>
          <p:nvPr>
            <p:ph type="title"/>
          </p:nvPr>
        </p:nvSpPr>
        <p:spPr/>
        <p:txBody>
          <a:bodyPr/>
          <a:lstStyle/>
          <a:p>
            <a:r>
              <a:rPr lang="en-US" dirty="0"/>
              <a:t>Long Short-Term Memory (LSTM)</a:t>
            </a:r>
          </a:p>
        </p:txBody>
      </p:sp>
      <p:sp>
        <p:nvSpPr>
          <p:cNvPr id="3" name="Content Placeholder 2">
            <a:extLst>
              <a:ext uri="{FF2B5EF4-FFF2-40B4-BE49-F238E27FC236}">
                <a16:creationId xmlns:a16="http://schemas.microsoft.com/office/drawing/2014/main" id="{4935346A-D4D0-3D19-7630-1E23A06A1221}"/>
              </a:ext>
            </a:extLst>
          </p:cNvPr>
          <p:cNvSpPr>
            <a:spLocks noGrp="1"/>
          </p:cNvSpPr>
          <p:nvPr>
            <p:ph idx="1"/>
          </p:nvPr>
        </p:nvSpPr>
        <p:spPr>
          <a:xfrm>
            <a:off x="836930" y="1893888"/>
            <a:ext cx="3723640" cy="4120832"/>
          </a:xfrm>
        </p:spPr>
        <p:txBody>
          <a:bodyPr>
            <a:normAutofit/>
          </a:bodyPr>
          <a:lstStyle/>
          <a:p>
            <a:pPr marL="0" indent="0">
              <a:buNone/>
            </a:pPr>
            <a:r>
              <a:rPr lang="en-US" dirty="0"/>
              <a:t>Enhanced RNN, better for large datasets.</a:t>
            </a:r>
          </a:p>
          <a:p>
            <a:pPr marL="0" indent="0">
              <a:buNone/>
            </a:pPr>
            <a:r>
              <a:rPr lang="en-US" dirty="0"/>
              <a:t>LSTM cells add gates to:</a:t>
            </a:r>
          </a:p>
          <a:p>
            <a:r>
              <a:rPr lang="en-US" b="1" dirty="0"/>
              <a:t>Forget</a:t>
            </a:r>
            <a:r>
              <a:rPr lang="en-US" dirty="0"/>
              <a:t> irrelevant info</a:t>
            </a:r>
          </a:p>
          <a:p>
            <a:r>
              <a:rPr lang="en-US" b="1" dirty="0"/>
              <a:t>Input</a:t>
            </a:r>
            <a:r>
              <a:rPr lang="en-US" dirty="0"/>
              <a:t> new info</a:t>
            </a:r>
          </a:p>
          <a:p>
            <a:r>
              <a:rPr lang="en-US" b="1" dirty="0"/>
              <a:t>Output</a:t>
            </a:r>
            <a:r>
              <a:rPr lang="en-US" dirty="0"/>
              <a:t> what matters</a:t>
            </a:r>
          </a:p>
          <a:p>
            <a:pPr marL="0" indent="0">
              <a:buNone/>
            </a:pPr>
            <a:r>
              <a:rPr lang="en-US" dirty="0"/>
              <a:t>Memory mechanism is now split into two parts:</a:t>
            </a:r>
          </a:p>
          <a:p>
            <a:r>
              <a:rPr lang="en-US" b="1" dirty="0"/>
              <a:t>Cell state: </a:t>
            </a:r>
            <a:r>
              <a:rPr lang="en-US" dirty="0"/>
              <a:t>long-term memory</a:t>
            </a:r>
          </a:p>
          <a:p>
            <a:r>
              <a:rPr lang="en-US" b="1" dirty="0"/>
              <a:t>Hidden state: </a:t>
            </a:r>
            <a:r>
              <a:rPr lang="en-US" dirty="0"/>
              <a:t>short-term memory</a:t>
            </a:r>
          </a:p>
        </p:txBody>
      </p:sp>
      <p:pic>
        <p:nvPicPr>
          <p:cNvPr id="4" name="Content Placeholder 7" descr="Diagram of a diagram of a cell&#10;&#10;AI-generated content may be incorrect.">
            <a:extLst>
              <a:ext uri="{FF2B5EF4-FFF2-40B4-BE49-F238E27FC236}">
                <a16:creationId xmlns:a16="http://schemas.microsoft.com/office/drawing/2014/main" id="{04786E8C-CCC7-95B2-17BF-197EB011C79E}"/>
              </a:ext>
            </a:extLst>
          </p:cNvPr>
          <p:cNvPicPr>
            <a:picLocks noChangeAspect="1"/>
          </p:cNvPicPr>
          <p:nvPr/>
        </p:nvPicPr>
        <p:blipFill>
          <a:blip r:embed="rId2"/>
          <a:stretch>
            <a:fillRect/>
          </a:stretch>
        </p:blipFill>
        <p:spPr>
          <a:xfrm>
            <a:off x="5006023" y="1570455"/>
            <a:ext cx="6349047" cy="3174524"/>
          </a:xfrm>
          <a:prstGeom prst="rect">
            <a:avLst/>
          </a:prstGeom>
        </p:spPr>
      </p:pic>
      <p:pic>
        <p:nvPicPr>
          <p:cNvPr id="5" name="Content Placeholder 5" descr="A math equations with black text&#10;&#10;AI-generated content may be incorrect.">
            <a:extLst>
              <a:ext uri="{FF2B5EF4-FFF2-40B4-BE49-F238E27FC236}">
                <a16:creationId xmlns:a16="http://schemas.microsoft.com/office/drawing/2014/main" id="{922CE9BA-B466-F297-D759-29CCE5389C53}"/>
              </a:ext>
            </a:extLst>
          </p:cNvPr>
          <p:cNvPicPr>
            <a:picLocks noChangeAspect="1"/>
          </p:cNvPicPr>
          <p:nvPr/>
        </p:nvPicPr>
        <p:blipFill>
          <a:blip r:embed="rId3"/>
          <a:stretch>
            <a:fillRect/>
          </a:stretch>
        </p:blipFill>
        <p:spPr>
          <a:xfrm>
            <a:off x="7085861" y="4663698"/>
            <a:ext cx="2189370" cy="2053533"/>
          </a:xfrm>
          <a:prstGeom prst="rect">
            <a:avLst/>
          </a:prstGeom>
        </p:spPr>
      </p:pic>
    </p:spTree>
    <p:extLst>
      <p:ext uri="{BB962C8B-B14F-4D97-AF65-F5344CB8AC3E}">
        <p14:creationId xmlns:p14="http://schemas.microsoft.com/office/powerpoint/2010/main" val="3766524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F33B8-D490-3A28-9865-187805C70452}"/>
              </a:ext>
            </a:extLst>
          </p:cNvPr>
          <p:cNvSpPr>
            <a:spLocks noGrp="1"/>
          </p:cNvSpPr>
          <p:nvPr>
            <p:ph type="title"/>
          </p:nvPr>
        </p:nvSpPr>
        <p:spPr/>
        <p:txBody>
          <a:bodyPr/>
          <a:lstStyle/>
          <a:p>
            <a:pPr algn="ctr"/>
            <a:r>
              <a:rPr lang="en-US" dirty="0">
                <a:solidFill>
                  <a:schemeClr val="accent5"/>
                </a:solidFill>
              </a:rPr>
              <a:t>Research Questions and Hypotheses</a:t>
            </a:r>
          </a:p>
        </p:txBody>
      </p:sp>
      <p:sp>
        <p:nvSpPr>
          <p:cNvPr id="3" name="Text Placeholder 2">
            <a:extLst>
              <a:ext uri="{FF2B5EF4-FFF2-40B4-BE49-F238E27FC236}">
                <a16:creationId xmlns:a16="http://schemas.microsoft.com/office/drawing/2014/main" id="{2FCF3A93-27EC-6CC6-C529-5CF39504C082}"/>
              </a:ext>
            </a:extLst>
          </p:cNvPr>
          <p:cNvSpPr>
            <a:spLocks noGrp="1"/>
          </p:cNvSpPr>
          <p:nvPr>
            <p:ph type="body" idx="1"/>
          </p:nvPr>
        </p:nvSpPr>
        <p:spPr>
          <a:xfrm>
            <a:off x="777240" y="3708719"/>
            <a:ext cx="5220335" cy="935037"/>
          </a:xfrm>
        </p:spPr>
        <p:txBody>
          <a:bodyPr>
            <a:normAutofit fontScale="92500" lnSpcReduction="10000"/>
          </a:bodyPr>
          <a:lstStyle/>
          <a:p>
            <a:pPr algn="ctr"/>
            <a:r>
              <a:rPr lang="en-US" b="0" dirty="0">
                <a:solidFill>
                  <a:schemeClr val="accent3">
                    <a:lumMod val="75000"/>
                  </a:schemeClr>
                </a:solidFill>
              </a:rPr>
              <a:t>Will an MLS-LSTM informed by stock price movements and Fama-French factors outperform technical-only versions?</a:t>
            </a:r>
          </a:p>
        </p:txBody>
      </p:sp>
      <p:sp>
        <p:nvSpPr>
          <p:cNvPr id="4" name="Content Placeholder 3">
            <a:extLst>
              <a:ext uri="{FF2B5EF4-FFF2-40B4-BE49-F238E27FC236}">
                <a16:creationId xmlns:a16="http://schemas.microsoft.com/office/drawing/2014/main" id="{538EAAE8-1EA9-A17E-1469-D0CB162D801B}"/>
              </a:ext>
            </a:extLst>
          </p:cNvPr>
          <p:cNvSpPr>
            <a:spLocks noGrp="1"/>
          </p:cNvSpPr>
          <p:nvPr>
            <p:ph sz="half" idx="2"/>
          </p:nvPr>
        </p:nvSpPr>
        <p:spPr>
          <a:xfrm>
            <a:off x="777240" y="4732656"/>
            <a:ext cx="5220335" cy="1167131"/>
          </a:xfrm>
        </p:spPr>
        <p:txBody>
          <a:bodyPr/>
          <a:lstStyle/>
          <a:p>
            <a:pPr marL="0" indent="0" algn="ctr">
              <a:buNone/>
            </a:pPr>
            <a:r>
              <a:rPr lang="en-US" b="1" dirty="0">
                <a:solidFill>
                  <a:schemeClr val="accent3">
                    <a:lumMod val="50000"/>
                  </a:schemeClr>
                </a:solidFill>
              </a:rPr>
              <a:t>Hypothesis 1:</a:t>
            </a:r>
          </a:p>
          <a:p>
            <a:pPr marL="0" indent="0" algn="ctr">
              <a:buNone/>
            </a:pPr>
            <a:r>
              <a:rPr lang="en-US" dirty="0">
                <a:solidFill>
                  <a:schemeClr val="accent3">
                    <a:lumMod val="50000"/>
                  </a:schemeClr>
                </a:solidFill>
              </a:rPr>
              <a:t>LSTM + Fama‑French factors will outperform a technical‑only LSTM.</a:t>
            </a:r>
          </a:p>
        </p:txBody>
      </p:sp>
      <p:sp>
        <p:nvSpPr>
          <p:cNvPr id="5" name="Text Placeholder 4">
            <a:extLst>
              <a:ext uri="{FF2B5EF4-FFF2-40B4-BE49-F238E27FC236}">
                <a16:creationId xmlns:a16="http://schemas.microsoft.com/office/drawing/2014/main" id="{3902399C-EF46-FAA1-9083-26012815D51F}"/>
              </a:ext>
            </a:extLst>
          </p:cNvPr>
          <p:cNvSpPr>
            <a:spLocks noGrp="1"/>
          </p:cNvSpPr>
          <p:nvPr>
            <p:ph type="body" sz="quarter" idx="3"/>
          </p:nvPr>
        </p:nvSpPr>
        <p:spPr>
          <a:xfrm>
            <a:off x="6172200" y="3708719"/>
            <a:ext cx="5183188" cy="935037"/>
          </a:xfrm>
        </p:spPr>
        <p:txBody>
          <a:bodyPr>
            <a:normAutofit fontScale="92500" lnSpcReduction="10000"/>
          </a:bodyPr>
          <a:lstStyle/>
          <a:p>
            <a:pPr algn="ctr"/>
            <a:r>
              <a:rPr lang="en-US" b="0" dirty="0">
                <a:solidFill>
                  <a:schemeClr val="accent1">
                    <a:lumMod val="75000"/>
                  </a:schemeClr>
                </a:solidFill>
              </a:rPr>
              <a:t>Will the model capture inefficiencies differently across low- versus high-information segments?</a:t>
            </a:r>
          </a:p>
        </p:txBody>
      </p:sp>
      <p:sp>
        <p:nvSpPr>
          <p:cNvPr id="6" name="Content Placeholder 5">
            <a:extLst>
              <a:ext uri="{FF2B5EF4-FFF2-40B4-BE49-F238E27FC236}">
                <a16:creationId xmlns:a16="http://schemas.microsoft.com/office/drawing/2014/main" id="{60DB5441-5EC6-32D3-EB8A-86B770E54D8A}"/>
              </a:ext>
            </a:extLst>
          </p:cNvPr>
          <p:cNvSpPr>
            <a:spLocks noGrp="1"/>
          </p:cNvSpPr>
          <p:nvPr>
            <p:ph sz="quarter" idx="4"/>
          </p:nvPr>
        </p:nvSpPr>
        <p:spPr>
          <a:xfrm>
            <a:off x="6194427" y="4732656"/>
            <a:ext cx="5160961" cy="1167131"/>
          </a:xfrm>
        </p:spPr>
        <p:txBody>
          <a:bodyPr/>
          <a:lstStyle/>
          <a:p>
            <a:pPr marL="0" indent="0" algn="ctr">
              <a:buNone/>
            </a:pPr>
            <a:r>
              <a:rPr lang="en-US" b="1" dirty="0">
                <a:solidFill>
                  <a:schemeClr val="tx2">
                    <a:lumMod val="90000"/>
                    <a:lumOff val="10000"/>
                  </a:schemeClr>
                </a:solidFill>
              </a:rPr>
              <a:t>Hypothesis 2:</a:t>
            </a:r>
          </a:p>
          <a:p>
            <a:pPr marL="0" indent="0" algn="ctr">
              <a:buNone/>
            </a:pPr>
            <a:r>
              <a:rPr lang="en-US" dirty="0">
                <a:solidFill>
                  <a:schemeClr val="tx2">
                    <a:lumMod val="90000"/>
                    <a:lumOff val="10000"/>
                  </a:schemeClr>
                </a:solidFill>
              </a:rPr>
              <a:t>The model will perform better in low-info segments (small caps, cryptocurrencies).</a:t>
            </a:r>
          </a:p>
        </p:txBody>
      </p:sp>
      <p:pic>
        <p:nvPicPr>
          <p:cNvPr id="8" name="Graphic 7" descr="Magnifying glass with solid fill">
            <a:extLst>
              <a:ext uri="{FF2B5EF4-FFF2-40B4-BE49-F238E27FC236}">
                <a16:creationId xmlns:a16="http://schemas.microsoft.com/office/drawing/2014/main" id="{68C1226F-D6E4-C1BC-44BF-A8DC3763329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86011" y="1793716"/>
            <a:ext cx="1355566" cy="1355566"/>
          </a:xfrm>
          <a:prstGeom prst="rect">
            <a:avLst/>
          </a:prstGeom>
        </p:spPr>
      </p:pic>
      <p:pic>
        <p:nvPicPr>
          <p:cNvPr id="10" name="Graphic 9" descr="Upward trend with solid fill">
            <a:extLst>
              <a:ext uri="{FF2B5EF4-FFF2-40B4-BE49-F238E27FC236}">
                <a16:creationId xmlns:a16="http://schemas.microsoft.com/office/drawing/2014/main" id="{F1E68C37-366D-C696-BC2B-FEE4503325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53360" y="1793716"/>
            <a:ext cx="1355565" cy="1355565"/>
          </a:xfrm>
          <a:prstGeom prst="rect">
            <a:avLst/>
          </a:prstGeom>
        </p:spPr>
      </p:pic>
    </p:spTree>
    <p:extLst>
      <p:ext uri="{BB962C8B-B14F-4D97-AF65-F5344CB8AC3E}">
        <p14:creationId xmlns:p14="http://schemas.microsoft.com/office/powerpoint/2010/main" val="2962988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AF525-EFBD-9391-9630-24D7BAFF7297}"/>
              </a:ext>
            </a:extLst>
          </p:cNvPr>
          <p:cNvSpPr>
            <a:spLocks noGrp="1"/>
          </p:cNvSpPr>
          <p:nvPr>
            <p:ph type="title"/>
          </p:nvPr>
        </p:nvSpPr>
        <p:spPr/>
        <p:txBody>
          <a:bodyPr/>
          <a:lstStyle/>
          <a:p>
            <a:r>
              <a:rPr lang="en-US" dirty="0"/>
              <a:t>Data: Assets</a:t>
            </a:r>
          </a:p>
        </p:txBody>
      </p:sp>
      <p:sp>
        <p:nvSpPr>
          <p:cNvPr id="4" name="Text Placeholder 3">
            <a:extLst>
              <a:ext uri="{FF2B5EF4-FFF2-40B4-BE49-F238E27FC236}">
                <a16:creationId xmlns:a16="http://schemas.microsoft.com/office/drawing/2014/main" id="{2C3AC314-F20B-289A-DE44-F77120ED085C}"/>
              </a:ext>
            </a:extLst>
          </p:cNvPr>
          <p:cNvSpPr>
            <a:spLocks noGrp="1"/>
          </p:cNvSpPr>
          <p:nvPr>
            <p:ph type="body" sz="half" idx="2"/>
          </p:nvPr>
        </p:nvSpPr>
        <p:spPr/>
        <p:txBody>
          <a:bodyPr>
            <a:normAutofit fontScale="92500" lnSpcReduction="10000"/>
          </a:bodyPr>
          <a:lstStyle/>
          <a:p>
            <a:r>
              <a:rPr lang="en-US" sz="2200" b="1" dirty="0"/>
              <a:t>All technical data: </a:t>
            </a:r>
            <a:r>
              <a:rPr lang="en-US" sz="2200" dirty="0"/>
              <a:t>from </a:t>
            </a:r>
            <a:r>
              <a:rPr lang="en-US" sz="2200" dirty="0" err="1"/>
              <a:t>yfinance</a:t>
            </a:r>
            <a:r>
              <a:rPr lang="en-US" sz="2200" dirty="0"/>
              <a:t> Python library</a:t>
            </a:r>
          </a:p>
          <a:p>
            <a:pPr marL="342900" indent="-342900">
              <a:buFont typeface="Arial" panose="020B0604020202020204" pitchFamily="34" charset="0"/>
              <a:buChar char="•"/>
            </a:pPr>
            <a:r>
              <a:rPr lang="en-US" dirty="0"/>
              <a:t>Price, volume, dividends, splits</a:t>
            </a:r>
          </a:p>
          <a:p>
            <a:r>
              <a:rPr lang="en-US" sz="2200" dirty="0"/>
              <a:t>In practice, EMH holds to varying degrees </a:t>
            </a:r>
            <a:r>
              <a:rPr lang="en-US" sz="2200" b="1" dirty="0">
                <a:sym typeface="Wingdings" pitchFamily="2" charset="2"/>
              </a:rPr>
              <a:t> information segments</a:t>
            </a:r>
            <a:endParaRPr lang="en-US" sz="2200" b="1" dirty="0"/>
          </a:p>
          <a:p>
            <a:pPr marL="342900" indent="-342900">
              <a:buFont typeface="Arial" panose="020B0604020202020204" pitchFamily="34" charset="0"/>
              <a:buChar char="•"/>
            </a:pPr>
            <a:r>
              <a:rPr lang="en-US" b="1" dirty="0"/>
              <a:t>Large cap: </a:t>
            </a:r>
            <a:r>
              <a:rPr lang="en-US" dirty="0"/>
              <a:t>from SPY top holdings</a:t>
            </a:r>
          </a:p>
          <a:p>
            <a:pPr marL="342900" indent="-342900">
              <a:buFont typeface="Arial" panose="020B0604020202020204" pitchFamily="34" charset="0"/>
              <a:buChar char="•"/>
            </a:pPr>
            <a:r>
              <a:rPr lang="en-US" b="1" dirty="0"/>
              <a:t>Small cap: </a:t>
            </a:r>
            <a:r>
              <a:rPr lang="en-US" dirty="0"/>
              <a:t>from SCHA top holdings</a:t>
            </a:r>
          </a:p>
          <a:p>
            <a:pPr marL="342900" indent="-342900">
              <a:buFont typeface="Arial" panose="020B0604020202020204" pitchFamily="34" charset="0"/>
              <a:buChar char="•"/>
            </a:pPr>
            <a:r>
              <a:rPr lang="en-US" b="1" dirty="0"/>
              <a:t>Crypto: </a:t>
            </a:r>
            <a:r>
              <a:rPr lang="en-US" dirty="0"/>
              <a:t>top by market cap</a:t>
            </a:r>
            <a:endParaRPr lang="en-US" b="1" dirty="0"/>
          </a:p>
        </p:txBody>
      </p:sp>
      <p:pic>
        <p:nvPicPr>
          <p:cNvPr id="8" name="Content Placeholder 4">
            <a:extLst>
              <a:ext uri="{FF2B5EF4-FFF2-40B4-BE49-F238E27FC236}">
                <a16:creationId xmlns:a16="http://schemas.microsoft.com/office/drawing/2014/main" id="{DB11FFA7-4984-9198-678F-0A5AA91A2F99}"/>
              </a:ext>
            </a:extLst>
          </p:cNvPr>
          <p:cNvPicPr>
            <a:picLocks noChangeAspect="1"/>
          </p:cNvPicPr>
          <p:nvPr/>
        </p:nvPicPr>
        <p:blipFill>
          <a:blip r:embed="rId2"/>
          <a:stretch>
            <a:fillRect/>
          </a:stretch>
        </p:blipFill>
        <p:spPr>
          <a:xfrm>
            <a:off x="4915454" y="1055599"/>
            <a:ext cx="6948142" cy="4805452"/>
          </a:xfrm>
          <a:prstGeom prst="rect">
            <a:avLst/>
          </a:prstGeom>
        </p:spPr>
      </p:pic>
    </p:spTree>
    <p:extLst>
      <p:ext uri="{BB962C8B-B14F-4D97-AF65-F5344CB8AC3E}">
        <p14:creationId xmlns:p14="http://schemas.microsoft.com/office/powerpoint/2010/main" val="921809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668D3-75CD-C27A-00F0-317067868DC9}"/>
              </a:ext>
            </a:extLst>
          </p:cNvPr>
          <p:cNvSpPr>
            <a:spLocks noGrp="1"/>
          </p:cNvSpPr>
          <p:nvPr>
            <p:ph type="title"/>
          </p:nvPr>
        </p:nvSpPr>
        <p:spPr/>
        <p:txBody>
          <a:bodyPr/>
          <a:lstStyle/>
          <a:p>
            <a:r>
              <a:rPr lang="en-US" dirty="0"/>
              <a:t>Data: Fama-French Factors</a:t>
            </a:r>
          </a:p>
        </p:txBody>
      </p:sp>
      <p:sp>
        <p:nvSpPr>
          <p:cNvPr id="3" name="Content Placeholder 2">
            <a:extLst>
              <a:ext uri="{FF2B5EF4-FFF2-40B4-BE49-F238E27FC236}">
                <a16:creationId xmlns:a16="http://schemas.microsoft.com/office/drawing/2014/main" id="{CD1AD4D8-39AE-B5BE-341B-99AE5364BC15}"/>
              </a:ext>
            </a:extLst>
          </p:cNvPr>
          <p:cNvSpPr>
            <a:spLocks noGrp="1"/>
          </p:cNvSpPr>
          <p:nvPr>
            <p:ph idx="1"/>
          </p:nvPr>
        </p:nvSpPr>
        <p:spPr>
          <a:xfrm>
            <a:off x="777240" y="1825625"/>
            <a:ext cx="5440680" cy="4667250"/>
          </a:xfrm>
        </p:spPr>
        <p:txBody>
          <a:bodyPr>
            <a:normAutofit fontScale="92500" lnSpcReduction="10000"/>
          </a:bodyPr>
          <a:lstStyle/>
          <a:p>
            <a:pPr marL="0" indent="0">
              <a:buNone/>
            </a:pPr>
            <a:r>
              <a:rPr lang="en-US" sz="2400" b="1" dirty="0"/>
              <a:t>Source</a:t>
            </a:r>
            <a:r>
              <a:rPr lang="en-US" sz="2400" dirty="0"/>
              <a:t>: Kenneth French data library</a:t>
            </a:r>
          </a:p>
          <a:p>
            <a:r>
              <a:rPr lang="en-US" sz="2200" dirty="0">
                <a:sym typeface="Wingdings" pitchFamily="2" charset="2"/>
              </a:rPr>
              <a:t>Daily </a:t>
            </a:r>
            <a:r>
              <a:rPr lang="en-US" sz="2200" b="1" dirty="0">
                <a:sym typeface="Wingdings" pitchFamily="2" charset="2"/>
              </a:rPr>
              <a:t>5-factor asset pricing model </a:t>
            </a:r>
            <a:r>
              <a:rPr lang="en-US" sz="2200" dirty="0">
                <a:sym typeface="Wingdings" pitchFamily="2" charset="2"/>
              </a:rPr>
              <a:t>data; </a:t>
            </a:r>
          </a:p>
          <a:p>
            <a:r>
              <a:rPr lang="en-US" sz="2200" dirty="0">
                <a:sym typeface="Wingdings" pitchFamily="2" charset="2"/>
              </a:rPr>
              <a:t>Merged with </a:t>
            </a:r>
            <a:r>
              <a:rPr lang="en-US" sz="2200" dirty="0" err="1">
                <a:sym typeface="Wingdings" pitchFamily="2" charset="2"/>
              </a:rPr>
              <a:t>yfinance</a:t>
            </a:r>
            <a:r>
              <a:rPr lang="en-US" sz="2200" dirty="0">
                <a:sym typeface="Wingdings" pitchFamily="2" charset="2"/>
              </a:rPr>
              <a:t> </a:t>
            </a:r>
            <a:r>
              <a:rPr lang="en-US" sz="2200" dirty="0" err="1">
                <a:sym typeface="Wingdings" pitchFamily="2" charset="2"/>
              </a:rPr>
              <a:t>dataframes</a:t>
            </a:r>
            <a:r>
              <a:rPr lang="en-US" sz="2200" dirty="0">
                <a:sym typeface="Wingdings" pitchFamily="2" charset="2"/>
              </a:rPr>
              <a:t> date-wise</a:t>
            </a:r>
          </a:p>
          <a:p>
            <a:pPr marL="0" indent="0">
              <a:buNone/>
            </a:pPr>
            <a:r>
              <a:rPr lang="en-US" sz="2400" dirty="0"/>
              <a:t>Information about:</a:t>
            </a:r>
          </a:p>
          <a:p>
            <a:r>
              <a:rPr lang="en-US" sz="2200" dirty="0"/>
              <a:t>Market risk premium (Mkt-Rf or Ri-Rf)</a:t>
            </a:r>
          </a:p>
          <a:p>
            <a:r>
              <a:rPr lang="en-US" sz="2200" dirty="0"/>
              <a:t>Size (SMB)</a:t>
            </a:r>
          </a:p>
          <a:p>
            <a:r>
              <a:rPr lang="en-US" sz="2200" dirty="0"/>
              <a:t>Value (HML)</a:t>
            </a:r>
          </a:p>
          <a:p>
            <a:r>
              <a:rPr lang="en-US" sz="2200" dirty="0"/>
              <a:t>Profitability (RMW)</a:t>
            </a:r>
          </a:p>
          <a:p>
            <a:r>
              <a:rPr lang="en-US" sz="2200" dirty="0"/>
              <a:t>Investment style (CMA)</a:t>
            </a:r>
          </a:p>
          <a:p>
            <a:r>
              <a:rPr lang="en-US" sz="2200" dirty="0"/>
              <a:t>Risk-free rates of return (Rf): 1-month U.S. T-bills</a:t>
            </a:r>
          </a:p>
          <a:p>
            <a:pPr marL="0" indent="0">
              <a:buNone/>
            </a:pPr>
            <a:r>
              <a:rPr lang="en-US" sz="2400" dirty="0"/>
              <a:t>Factors allow the LSTM to learn beyond technical analysis.</a:t>
            </a:r>
          </a:p>
          <a:p>
            <a:pPr marL="0" indent="0">
              <a:buNone/>
            </a:pPr>
            <a:endParaRPr lang="en-US" dirty="0"/>
          </a:p>
        </p:txBody>
      </p:sp>
      <p:pic>
        <p:nvPicPr>
          <p:cNvPr id="4098" name="Picture 2" descr="Five-Factor Asset Pricing Model Analysis | by Andrea Chello | The Quant  Journey | Medium">
            <a:extLst>
              <a:ext uri="{FF2B5EF4-FFF2-40B4-BE49-F238E27FC236}">
                <a16:creationId xmlns:a16="http://schemas.microsoft.com/office/drawing/2014/main" id="{F0D1C870-AD50-C6D3-B60A-996FD4D8FC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8582" y="1974532"/>
            <a:ext cx="5845455" cy="3044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561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0FEC0-510F-488F-0942-C991896D7EF0}"/>
              </a:ext>
            </a:extLst>
          </p:cNvPr>
          <p:cNvSpPr>
            <a:spLocks noGrp="1"/>
          </p:cNvSpPr>
          <p:nvPr>
            <p:ph type="title"/>
          </p:nvPr>
        </p:nvSpPr>
        <p:spPr/>
        <p:txBody>
          <a:bodyPr/>
          <a:lstStyle/>
          <a:p>
            <a:r>
              <a:rPr lang="en-US" dirty="0"/>
              <a:t>Input Vector</a:t>
            </a:r>
          </a:p>
        </p:txBody>
      </p:sp>
      <p:pic>
        <p:nvPicPr>
          <p:cNvPr id="4" name="Content Placeholder 18">
            <a:extLst>
              <a:ext uri="{FF2B5EF4-FFF2-40B4-BE49-F238E27FC236}">
                <a16:creationId xmlns:a16="http://schemas.microsoft.com/office/drawing/2014/main" id="{32744A79-DDE6-6CB8-2475-FD5E3D446160}"/>
              </a:ext>
            </a:extLst>
          </p:cNvPr>
          <p:cNvPicPr>
            <a:picLocks noGrp="1" noChangeAspect="1"/>
          </p:cNvPicPr>
          <p:nvPr>
            <p:ph idx="1"/>
          </p:nvPr>
        </p:nvPicPr>
        <p:blipFill>
          <a:blip r:embed="rId2"/>
          <a:stretch>
            <a:fillRect/>
          </a:stretch>
        </p:blipFill>
        <p:spPr>
          <a:xfrm>
            <a:off x="777875" y="3946489"/>
            <a:ext cx="10658475" cy="1215244"/>
          </a:xfrm>
        </p:spPr>
      </p:pic>
      <p:sp>
        <p:nvSpPr>
          <p:cNvPr id="5" name="TextBox 4">
            <a:extLst>
              <a:ext uri="{FF2B5EF4-FFF2-40B4-BE49-F238E27FC236}">
                <a16:creationId xmlns:a16="http://schemas.microsoft.com/office/drawing/2014/main" id="{0E970561-2396-A9B3-051E-E81EA47BAFAB}"/>
              </a:ext>
            </a:extLst>
          </p:cNvPr>
          <p:cNvSpPr txBox="1"/>
          <p:nvPr/>
        </p:nvSpPr>
        <p:spPr>
          <a:xfrm>
            <a:off x="777240" y="2356923"/>
            <a:ext cx="6159187" cy="923330"/>
          </a:xfrm>
          <a:prstGeom prst="rect">
            <a:avLst/>
          </a:prstGeom>
          <a:noFill/>
        </p:spPr>
        <p:txBody>
          <a:bodyPr wrap="none" rtlCol="0">
            <a:spAutoFit/>
          </a:bodyPr>
          <a:lstStyle/>
          <a:p>
            <a:r>
              <a:rPr lang="en-US" dirty="0" err="1"/>
              <a:t>X</a:t>
            </a:r>
            <a:r>
              <a:rPr lang="en-US" baseline="-25000" dirty="0" err="1"/>
              <a:t>t</a:t>
            </a:r>
            <a:r>
              <a:rPr lang="en-US" dirty="0"/>
              <a:t> : independent variables to predict Close price sequences</a:t>
            </a:r>
          </a:p>
          <a:p>
            <a:endParaRPr lang="en-US" dirty="0"/>
          </a:p>
          <a:p>
            <a:r>
              <a:rPr lang="en-US" dirty="0"/>
              <a:t>For this project, I set the model to predict 5 days into the future.</a:t>
            </a:r>
          </a:p>
        </p:txBody>
      </p:sp>
    </p:spTree>
    <p:extLst>
      <p:ext uri="{BB962C8B-B14F-4D97-AF65-F5344CB8AC3E}">
        <p14:creationId xmlns:p14="http://schemas.microsoft.com/office/powerpoint/2010/main" val="1309750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2663A72-E771-41D4-96AA-28C1B2172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88164F59-4B09-4DB4-A99F-97C71DE46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1C37722E-B868-EE78-8826-FAF28CC681FD}"/>
              </a:ext>
            </a:extLst>
          </p:cNvPr>
          <p:cNvSpPr>
            <a:spLocks noGrp="1"/>
          </p:cNvSpPr>
          <p:nvPr>
            <p:ph type="title"/>
          </p:nvPr>
        </p:nvSpPr>
        <p:spPr>
          <a:xfrm>
            <a:off x="770878" y="952022"/>
            <a:ext cx="4606280" cy="5157049"/>
          </a:xfrm>
        </p:spPr>
        <p:txBody>
          <a:bodyPr anchor="ctr">
            <a:normAutofit/>
          </a:bodyPr>
          <a:lstStyle/>
          <a:p>
            <a:r>
              <a:rPr lang="en-US" sz="4400" dirty="0"/>
              <a:t>Methodology Steps</a:t>
            </a:r>
          </a:p>
        </p:txBody>
      </p:sp>
      <p:sp>
        <p:nvSpPr>
          <p:cNvPr id="70" name="Freeform: Shape 12">
            <a:extLst>
              <a:ext uri="{FF2B5EF4-FFF2-40B4-BE49-F238E27FC236}">
                <a16:creationId xmlns:a16="http://schemas.microsoft.com/office/drawing/2014/main" id="{6B336017-F12B-485C-B5E1-B6971DA0C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6099" y="238175"/>
            <a:ext cx="6735901" cy="6619825"/>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71" name="decorative circles">
            <a:extLst>
              <a:ext uri="{FF2B5EF4-FFF2-40B4-BE49-F238E27FC236}">
                <a16:creationId xmlns:a16="http://schemas.microsoft.com/office/drawing/2014/main" id="{C2C078FA-5775-45CB-A8F3-53B3F1AD2B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51383" y="299808"/>
            <a:ext cx="1668948" cy="6421669"/>
            <a:chOff x="9951383" y="299808"/>
            <a:chExt cx="1668948" cy="6421669"/>
          </a:xfrm>
        </p:grpSpPr>
        <p:sp>
          <p:nvSpPr>
            <p:cNvPr id="16" name="Oval 15">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53890" y="55441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236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16802" y="6415697"/>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51383" y="6204350"/>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2" name="Content Placeholder 2">
            <a:extLst>
              <a:ext uri="{FF2B5EF4-FFF2-40B4-BE49-F238E27FC236}">
                <a16:creationId xmlns:a16="http://schemas.microsoft.com/office/drawing/2014/main" id="{2E62DFAE-64A5-B514-1205-3367D96A646D}"/>
              </a:ext>
            </a:extLst>
          </p:cNvPr>
          <p:cNvGraphicFramePr>
            <a:graphicFrameLocks noGrp="1"/>
          </p:cNvGraphicFramePr>
          <p:nvPr>
            <p:ph idx="1"/>
            <p:extLst>
              <p:ext uri="{D42A27DB-BD31-4B8C-83A1-F6EECF244321}">
                <p14:modId xmlns:p14="http://schemas.microsoft.com/office/powerpoint/2010/main" val="3297238561"/>
              </p:ext>
            </p:extLst>
          </p:nvPr>
        </p:nvGraphicFramePr>
        <p:xfrm>
          <a:off x="5855597" y="952022"/>
          <a:ext cx="5891471" cy="5157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0911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53" name="Rectangle 5152">
            <a:extLst>
              <a:ext uri="{FF2B5EF4-FFF2-40B4-BE49-F238E27FC236}">
                <a16:creationId xmlns:a16="http://schemas.microsoft.com/office/drawing/2014/main" id="{8427DF8B-AF40-4916-BF81-7B4B1D6A0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54" name="Rectangle 5153">
            <a:extLst>
              <a:ext uri="{FF2B5EF4-FFF2-40B4-BE49-F238E27FC236}">
                <a16:creationId xmlns:a16="http://schemas.microsoft.com/office/drawing/2014/main" id="{6AE0E191-47BD-46BD-846E-E994713F2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3DD28D95-5129-8AF1-5D18-532503E632B0}"/>
              </a:ext>
            </a:extLst>
          </p:cNvPr>
          <p:cNvSpPr>
            <a:spLocks noGrp="1"/>
          </p:cNvSpPr>
          <p:nvPr>
            <p:ph type="title"/>
          </p:nvPr>
        </p:nvSpPr>
        <p:spPr>
          <a:xfrm>
            <a:off x="777240" y="777240"/>
            <a:ext cx="4606280" cy="2493876"/>
          </a:xfrm>
        </p:spPr>
        <p:txBody>
          <a:bodyPr anchor="b">
            <a:normAutofit/>
          </a:bodyPr>
          <a:lstStyle/>
          <a:p>
            <a:r>
              <a:rPr lang="en-US" sz="4400"/>
              <a:t>Sliding Window Training</a:t>
            </a:r>
          </a:p>
        </p:txBody>
      </p:sp>
      <p:sp>
        <p:nvSpPr>
          <p:cNvPr id="3" name="Content Placeholder 2">
            <a:extLst>
              <a:ext uri="{FF2B5EF4-FFF2-40B4-BE49-F238E27FC236}">
                <a16:creationId xmlns:a16="http://schemas.microsoft.com/office/drawing/2014/main" id="{9531E3B3-C8AF-EE3E-013A-24051F9901F8}"/>
              </a:ext>
            </a:extLst>
          </p:cNvPr>
          <p:cNvSpPr>
            <a:spLocks noGrp="1"/>
          </p:cNvSpPr>
          <p:nvPr>
            <p:ph idx="1"/>
          </p:nvPr>
        </p:nvSpPr>
        <p:spPr>
          <a:xfrm>
            <a:off x="777239" y="3428999"/>
            <a:ext cx="5146041" cy="2747963"/>
          </a:xfrm>
        </p:spPr>
        <p:txBody>
          <a:bodyPr anchor="t">
            <a:normAutofit/>
          </a:bodyPr>
          <a:lstStyle/>
          <a:p>
            <a:pPr>
              <a:buNone/>
            </a:pPr>
            <a:r>
              <a:rPr lang="en-US" sz="1800" dirty="0"/>
              <a:t>15‑day input window → predict days 16–20</a:t>
            </a:r>
          </a:p>
          <a:p>
            <a:r>
              <a:rPr lang="en-US" sz="1800" dirty="0"/>
              <a:t>Slide window by 1 day to maximize data coverage</a:t>
            </a:r>
          </a:p>
          <a:p>
            <a:pPr marL="0" indent="0">
              <a:buNone/>
            </a:pPr>
            <a:r>
              <a:rPr lang="en-US" sz="1800" dirty="0"/>
              <a:t>Model runs thousands of iterations across trials.</a:t>
            </a:r>
          </a:p>
          <a:p>
            <a:r>
              <a:rPr lang="en-US" sz="1800" dirty="0"/>
              <a:t>Bayesian optimization shapes individual neural network layers.</a:t>
            </a:r>
          </a:p>
          <a:p>
            <a:r>
              <a:rPr lang="en-US" sz="1800" dirty="0"/>
              <a:t>Lightweight models; size ranges from 1 to 20 MB</a:t>
            </a:r>
          </a:p>
        </p:txBody>
      </p:sp>
      <p:sp>
        <p:nvSpPr>
          <p:cNvPr id="5155" name="Oval 1">
            <a:extLst>
              <a:ext uri="{FF2B5EF4-FFF2-40B4-BE49-F238E27FC236}">
                <a16:creationId xmlns:a16="http://schemas.microsoft.com/office/drawing/2014/main" id="{D60DC0FE-B192-4898-9A42-DD3CA1061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068" y="1214970"/>
            <a:ext cx="5716933" cy="5643030"/>
          </a:xfrm>
          <a:custGeom>
            <a:avLst/>
            <a:gdLst>
              <a:gd name="connsiteX0" fmla="*/ 3371933 w 5716933"/>
              <a:gd name="connsiteY0" fmla="*/ 0 h 5643030"/>
              <a:gd name="connsiteX1" fmla="*/ 5516795 w 5716933"/>
              <a:gd name="connsiteY1" fmla="*/ 769986 h 5643030"/>
              <a:gd name="connsiteX2" fmla="*/ 5716933 w 5716933"/>
              <a:gd name="connsiteY2" fmla="*/ 951883 h 5643030"/>
              <a:gd name="connsiteX3" fmla="*/ 5716933 w 5716933"/>
              <a:gd name="connsiteY3" fmla="*/ 5643030 h 5643030"/>
              <a:gd name="connsiteX4" fmla="*/ 884716 w 5716933"/>
              <a:gd name="connsiteY4" fmla="*/ 5643030 h 5643030"/>
              <a:gd name="connsiteX5" fmla="*/ 769986 w 5716933"/>
              <a:gd name="connsiteY5" fmla="*/ 5516796 h 5643030"/>
              <a:gd name="connsiteX6" fmla="*/ 0 w 5716933"/>
              <a:gd name="connsiteY6" fmla="*/ 3371933 h 5643030"/>
              <a:gd name="connsiteX7" fmla="*/ 3371933 w 5716933"/>
              <a:gd name="connsiteY7" fmla="*/ 0 h 5643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6933" h="5643030">
                <a:moveTo>
                  <a:pt x="3371933" y="0"/>
                </a:moveTo>
                <a:cubicBezTo>
                  <a:pt x="4186675" y="0"/>
                  <a:pt x="4933927" y="288960"/>
                  <a:pt x="5516795" y="769986"/>
                </a:cubicBezTo>
                <a:lnTo>
                  <a:pt x="5716933" y="951883"/>
                </a:lnTo>
                <a:lnTo>
                  <a:pt x="5716933" y="5643030"/>
                </a:lnTo>
                <a:lnTo>
                  <a:pt x="884716" y="5643030"/>
                </a:lnTo>
                <a:lnTo>
                  <a:pt x="769986" y="5516796"/>
                </a:lnTo>
                <a:cubicBezTo>
                  <a:pt x="288960" y="4933927"/>
                  <a:pt x="0" y="4186675"/>
                  <a:pt x="0" y="3371933"/>
                </a:cubicBezTo>
                <a:cubicBezTo>
                  <a:pt x="0" y="1509666"/>
                  <a:pt x="1509666" y="0"/>
                  <a:pt x="337193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5156" name="decorative circles">
            <a:extLst>
              <a:ext uri="{FF2B5EF4-FFF2-40B4-BE49-F238E27FC236}">
                <a16:creationId xmlns:a16="http://schemas.microsoft.com/office/drawing/2014/main" id="{47154ABD-A760-4C29-A394-422706C2C0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8627" y="289695"/>
            <a:ext cx="5228154" cy="5966848"/>
            <a:chOff x="6008627" y="289695"/>
            <a:chExt cx="5228154" cy="5966848"/>
          </a:xfrm>
        </p:grpSpPr>
        <p:sp>
          <p:nvSpPr>
            <p:cNvPr id="5134" name="Oval 5133">
              <a:extLst>
                <a:ext uri="{FF2B5EF4-FFF2-40B4-BE49-F238E27FC236}">
                  <a16:creationId xmlns:a16="http://schemas.microsoft.com/office/drawing/2014/main" id="{87E907A3-04C3-40DF-AF5B-74DFD98587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5" name="Oval 5134">
              <a:extLst>
                <a:ext uri="{FF2B5EF4-FFF2-40B4-BE49-F238E27FC236}">
                  <a16:creationId xmlns:a16="http://schemas.microsoft.com/office/drawing/2014/main" id="{6C341F19-78FA-4078-B1AD-5E1646DD0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6" name="Oval 5135">
              <a:extLst>
                <a:ext uri="{FF2B5EF4-FFF2-40B4-BE49-F238E27FC236}">
                  <a16:creationId xmlns:a16="http://schemas.microsoft.com/office/drawing/2014/main" id="{D6E0C6E1-CEDB-4511-B675-C5C48112E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790102"/>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7" name="Oval 5136">
              <a:extLst>
                <a:ext uri="{FF2B5EF4-FFF2-40B4-BE49-F238E27FC236}">
                  <a16:creationId xmlns:a16="http://schemas.microsoft.com/office/drawing/2014/main" id="{C863F213-E875-41B8-A148-A90BCD837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70340" y="674287"/>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8" name="Oval 5137">
              <a:extLst>
                <a:ext uri="{FF2B5EF4-FFF2-40B4-BE49-F238E27FC236}">
                  <a16:creationId xmlns:a16="http://schemas.microsoft.com/office/drawing/2014/main" id="{26FF8E98-A1E7-49FB-95C2-4518E16B54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407667"/>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122" name="Picture 2" descr="Generated image">
            <a:extLst>
              <a:ext uri="{FF2B5EF4-FFF2-40B4-BE49-F238E27FC236}">
                <a16:creationId xmlns:a16="http://schemas.microsoft.com/office/drawing/2014/main" id="{FC671631-909E-A9CB-7274-E13DEC87B44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16869" y="2811900"/>
            <a:ext cx="5175131" cy="345439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diagram of a software application&#10;&#10;AI-generated content may be incorrect.">
            <a:extLst>
              <a:ext uri="{FF2B5EF4-FFF2-40B4-BE49-F238E27FC236}">
                <a16:creationId xmlns:a16="http://schemas.microsoft.com/office/drawing/2014/main" id="{A0DEF542-F976-0A2F-EC90-EC11AE5E9239}"/>
              </a:ext>
            </a:extLst>
          </p:cNvPr>
          <p:cNvPicPr>
            <a:picLocks noChangeAspect="1"/>
          </p:cNvPicPr>
          <p:nvPr/>
        </p:nvPicPr>
        <p:blipFill>
          <a:blip r:embed="rId3"/>
          <a:stretch>
            <a:fillRect/>
          </a:stretch>
        </p:blipFill>
        <p:spPr>
          <a:xfrm>
            <a:off x="777239" y="289695"/>
            <a:ext cx="9296400" cy="1433727"/>
          </a:xfrm>
          <a:prstGeom prst="rect">
            <a:avLst/>
          </a:prstGeom>
          <a:ln w="19050">
            <a:solidFill>
              <a:schemeClr val="accent3">
                <a:lumMod val="20000"/>
                <a:lumOff val="80000"/>
              </a:schemeClr>
            </a:solidFill>
          </a:ln>
        </p:spPr>
      </p:pic>
    </p:spTree>
    <p:extLst>
      <p:ext uri="{BB962C8B-B14F-4D97-AF65-F5344CB8AC3E}">
        <p14:creationId xmlns:p14="http://schemas.microsoft.com/office/powerpoint/2010/main" val="1404022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showing a red line and blue line&#10;&#10;AI-generated content may be incorrect.">
            <a:extLst>
              <a:ext uri="{FF2B5EF4-FFF2-40B4-BE49-F238E27FC236}">
                <a16:creationId xmlns:a16="http://schemas.microsoft.com/office/drawing/2014/main" id="{19EB9E5D-9376-86D7-B148-0FCFF88C780C}"/>
              </a:ext>
            </a:extLst>
          </p:cNvPr>
          <p:cNvPicPr>
            <a:picLocks noGrp="1" noChangeAspect="1"/>
          </p:cNvPicPr>
          <p:nvPr>
            <p:ph idx="1"/>
          </p:nvPr>
        </p:nvPicPr>
        <p:blipFill>
          <a:blip r:embed="rId2"/>
          <a:stretch>
            <a:fillRect/>
          </a:stretch>
        </p:blipFill>
        <p:spPr>
          <a:xfrm>
            <a:off x="522829" y="650980"/>
            <a:ext cx="5289691" cy="2820469"/>
          </a:xfrm>
        </p:spPr>
      </p:pic>
      <p:pic>
        <p:nvPicPr>
          <p:cNvPr id="7" name="Picture 6" descr="A graph of a stock market&#10;&#10;AI-generated content may be incorrect.">
            <a:extLst>
              <a:ext uri="{FF2B5EF4-FFF2-40B4-BE49-F238E27FC236}">
                <a16:creationId xmlns:a16="http://schemas.microsoft.com/office/drawing/2014/main" id="{051C4FAF-99E8-9086-8E48-BD273CF15221}"/>
              </a:ext>
            </a:extLst>
          </p:cNvPr>
          <p:cNvPicPr>
            <a:picLocks noChangeAspect="1"/>
          </p:cNvPicPr>
          <p:nvPr/>
        </p:nvPicPr>
        <p:blipFill>
          <a:blip r:embed="rId3"/>
          <a:stretch>
            <a:fillRect/>
          </a:stretch>
        </p:blipFill>
        <p:spPr>
          <a:xfrm>
            <a:off x="522829" y="3630642"/>
            <a:ext cx="5289690" cy="2780318"/>
          </a:xfrm>
          <a:prstGeom prst="rect">
            <a:avLst/>
          </a:prstGeom>
        </p:spPr>
      </p:pic>
      <p:pic>
        <p:nvPicPr>
          <p:cNvPr id="9" name="Picture 8" descr="A graph of a graph showing the value of a stock market&#10;&#10;AI-generated content may be incorrect.">
            <a:extLst>
              <a:ext uri="{FF2B5EF4-FFF2-40B4-BE49-F238E27FC236}">
                <a16:creationId xmlns:a16="http://schemas.microsoft.com/office/drawing/2014/main" id="{76978647-025B-90D8-C521-F23433C6FAAB}"/>
              </a:ext>
            </a:extLst>
          </p:cNvPr>
          <p:cNvPicPr>
            <a:picLocks noChangeAspect="1"/>
          </p:cNvPicPr>
          <p:nvPr/>
        </p:nvPicPr>
        <p:blipFill>
          <a:blip r:embed="rId4"/>
          <a:stretch>
            <a:fillRect/>
          </a:stretch>
        </p:blipFill>
        <p:spPr>
          <a:xfrm>
            <a:off x="6115388" y="1719367"/>
            <a:ext cx="5588932" cy="2929111"/>
          </a:xfrm>
          <a:prstGeom prst="rect">
            <a:avLst/>
          </a:prstGeom>
        </p:spPr>
      </p:pic>
      <p:sp>
        <p:nvSpPr>
          <p:cNvPr id="10" name="TextBox 9">
            <a:extLst>
              <a:ext uri="{FF2B5EF4-FFF2-40B4-BE49-F238E27FC236}">
                <a16:creationId xmlns:a16="http://schemas.microsoft.com/office/drawing/2014/main" id="{604759BB-A5F4-8EC7-DA62-0B026954A083}"/>
              </a:ext>
            </a:extLst>
          </p:cNvPr>
          <p:cNvSpPr txBox="1"/>
          <p:nvPr/>
        </p:nvSpPr>
        <p:spPr>
          <a:xfrm>
            <a:off x="6514242" y="447040"/>
            <a:ext cx="4968989" cy="769441"/>
          </a:xfrm>
          <a:prstGeom prst="rect">
            <a:avLst/>
          </a:prstGeom>
          <a:noFill/>
        </p:spPr>
        <p:txBody>
          <a:bodyPr wrap="none" rtlCol="0">
            <a:spAutoFit/>
          </a:bodyPr>
          <a:lstStyle/>
          <a:p>
            <a:r>
              <a:rPr lang="en-US" sz="4400" dirty="0">
                <a:solidFill>
                  <a:schemeClr val="tx2"/>
                </a:solidFill>
                <a:latin typeface="+mj-lt"/>
              </a:rPr>
              <a:t>Signals &amp; </a:t>
            </a:r>
            <a:r>
              <a:rPr lang="en-US" sz="4400" dirty="0" err="1">
                <a:solidFill>
                  <a:schemeClr val="tx2"/>
                </a:solidFill>
                <a:latin typeface="+mj-lt"/>
              </a:rPr>
              <a:t>Backtesting</a:t>
            </a:r>
            <a:endParaRPr lang="en-US" sz="4400" dirty="0">
              <a:solidFill>
                <a:schemeClr val="tx2"/>
              </a:solidFill>
              <a:latin typeface="+mj-lt"/>
            </a:endParaRPr>
          </a:p>
        </p:txBody>
      </p:sp>
      <p:sp>
        <p:nvSpPr>
          <p:cNvPr id="11" name="TextBox 10">
            <a:extLst>
              <a:ext uri="{FF2B5EF4-FFF2-40B4-BE49-F238E27FC236}">
                <a16:creationId xmlns:a16="http://schemas.microsoft.com/office/drawing/2014/main" id="{F7EDD28E-4812-1FBA-ED64-87939D27F4AF}"/>
              </a:ext>
            </a:extLst>
          </p:cNvPr>
          <p:cNvSpPr txBox="1"/>
          <p:nvPr/>
        </p:nvSpPr>
        <p:spPr>
          <a:xfrm>
            <a:off x="6096000" y="4898755"/>
            <a:ext cx="5857205" cy="1785104"/>
          </a:xfrm>
          <a:prstGeom prst="rect">
            <a:avLst/>
          </a:prstGeom>
          <a:noFill/>
        </p:spPr>
        <p:txBody>
          <a:bodyPr wrap="square" rtlCol="0">
            <a:spAutoFit/>
          </a:bodyPr>
          <a:lstStyle/>
          <a:p>
            <a:r>
              <a:rPr lang="en-US" sz="2000" dirty="0"/>
              <a:t>Signal execution criteria:</a:t>
            </a:r>
          </a:p>
          <a:p>
            <a:pPr marL="285750" indent="-285750">
              <a:buFont typeface="Arial" panose="020B0604020202020204" pitchFamily="34" charset="0"/>
              <a:buChar char="•"/>
            </a:pPr>
            <a:r>
              <a:rPr lang="en-US" b="1" dirty="0"/>
              <a:t>Buy</a:t>
            </a:r>
            <a:r>
              <a:rPr lang="en-US" dirty="0"/>
              <a:t> if predicted 5‑day return &gt; 30‑day vol &amp; price ≤0.95×last_sell</a:t>
            </a:r>
          </a:p>
          <a:p>
            <a:pPr marL="285750" indent="-285750">
              <a:buFont typeface="Arial" panose="020B0604020202020204" pitchFamily="34" charset="0"/>
              <a:buChar char="•"/>
            </a:pPr>
            <a:r>
              <a:rPr lang="en-US" b="1" dirty="0"/>
              <a:t>Sell</a:t>
            </a:r>
            <a:r>
              <a:rPr lang="en-US" dirty="0"/>
              <a:t> if drop &gt; 1.5×vol &amp; price ≥1.05×last_buy</a:t>
            </a:r>
          </a:p>
          <a:p>
            <a:pPr marL="742950" lvl="1" indent="-285750">
              <a:buFont typeface="Arial" panose="020B0604020202020204" pitchFamily="34" charset="0"/>
              <a:buChar char="•"/>
            </a:pPr>
            <a:r>
              <a:rPr lang="en-US" dirty="0"/>
              <a:t>AND enter a short position</a:t>
            </a:r>
          </a:p>
          <a:p>
            <a:endParaRPr lang="en-US" dirty="0"/>
          </a:p>
        </p:txBody>
      </p:sp>
    </p:spTree>
    <p:extLst>
      <p:ext uri="{BB962C8B-B14F-4D97-AF65-F5344CB8AC3E}">
        <p14:creationId xmlns:p14="http://schemas.microsoft.com/office/powerpoint/2010/main" val="3464132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F374-9400-D363-1FAC-ACF2AAD9AED5}"/>
              </a:ext>
            </a:extLst>
          </p:cNvPr>
          <p:cNvSpPr>
            <a:spLocks noGrp="1"/>
          </p:cNvSpPr>
          <p:nvPr>
            <p:ph type="title"/>
          </p:nvPr>
        </p:nvSpPr>
        <p:spPr/>
        <p:txBody>
          <a:bodyPr/>
          <a:lstStyle/>
          <a:p>
            <a:r>
              <a:rPr lang="en-US" dirty="0"/>
              <a:t>Main result: BIG Alpha Improvement</a:t>
            </a:r>
          </a:p>
        </p:txBody>
      </p:sp>
      <p:graphicFrame>
        <p:nvGraphicFramePr>
          <p:cNvPr id="5" name="Content Placeholder 4">
            <a:extLst>
              <a:ext uri="{FF2B5EF4-FFF2-40B4-BE49-F238E27FC236}">
                <a16:creationId xmlns:a16="http://schemas.microsoft.com/office/drawing/2014/main" id="{711DB508-50B4-D7F4-0669-F923FD6AD0C0}"/>
              </a:ext>
            </a:extLst>
          </p:cNvPr>
          <p:cNvGraphicFramePr>
            <a:graphicFrameLocks noGrp="1"/>
          </p:cNvGraphicFramePr>
          <p:nvPr>
            <p:ph idx="1"/>
            <p:extLst>
              <p:ext uri="{D42A27DB-BD31-4B8C-83A1-F6EECF244321}">
                <p14:modId xmlns:p14="http://schemas.microsoft.com/office/powerpoint/2010/main" val="2308445180"/>
              </p:ext>
            </p:extLst>
          </p:nvPr>
        </p:nvGraphicFramePr>
        <p:xfrm>
          <a:off x="6096000" y="465137"/>
          <a:ext cx="3994785" cy="540385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3">
            <a:extLst>
              <a:ext uri="{FF2B5EF4-FFF2-40B4-BE49-F238E27FC236}">
                <a16:creationId xmlns:a16="http://schemas.microsoft.com/office/drawing/2014/main" id="{28A7824B-1032-970A-CC22-FE1F50A3C1C6}"/>
              </a:ext>
            </a:extLst>
          </p:cNvPr>
          <p:cNvSpPr>
            <a:spLocks noGrp="1"/>
          </p:cNvSpPr>
          <p:nvPr>
            <p:ph type="body" sz="half" idx="2"/>
          </p:nvPr>
        </p:nvSpPr>
        <p:spPr/>
        <p:txBody>
          <a:bodyPr/>
          <a:lstStyle/>
          <a:p>
            <a:r>
              <a:rPr lang="en-US" b="1" dirty="0"/>
              <a:t>+45.26 pp </a:t>
            </a:r>
            <a:r>
              <a:rPr lang="en-US" dirty="0"/>
              <a:t>average alpha with factors vs. technical‑only (p = 0.005) ​</a:t>
            </a:r>
          </a:p>
        </p:txBody>
      </p:sp>
      <p:pic>
        <p:nvPicPr>
          <p:cNvPr id="10" name="Picture 9" descr="A table with numbers and a black text&#10;&#10;AI-generated content may be incorrect.">
            <a:extLst>
              <a:ext uri="{FF2B5EF4-FFF2-40B4-BE49-F238E27FC236}">
                <a16:creationId xmlns:a16="http://schemas.microsoft.com/office/drawing/2014/main" id="{AD0BC31F-4B21-0844-5239-7ED5977E18C4}"/>
              </a:ext>
            </a:extLst>
          </p:cNvPr>
          <p:cNvPicPr>
            <a:picLocks noChangeAspect="1"/>
          </p:cNvPicPr>
          <p:nvPr/>
        </p:nvPicPr>
        <p:blipFill>
          <a:blip r:embed="rId4"/>
          <a:stretch>
            <a:fillRect/>
          </a:stretch>
        </p:blipFill>
        <p:spPr>
          <a:xfrm>
            <a:off x="777240" y="3952171"/>
            <a:ext cx="4573514" cy="1834938"/>
          </a:xfrm>
          <a:prstGeom prst="rect">
            <a:avLst/>
          </a:prstGeom>
        </p:spPr>
      </p:pic>
    </p:spTree>
    <p:extLst>
      <p:ext uri="{BB962C8B-B14F-4D97-AF65-F5344CB8AC3E}">
        <p14:creationId xmlns:p14="http://schemas.microsoft.com/office/powerpoint/2010/main" val="651072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B5C76B0-66A5-F896-5107-82ADEFC8C3B5}"/>
              </a:ext>
            </a:extLst>
          </p:cNvPr>
          <p:cNvGrpSpPr/>
          <p:nvPr/>
        </p:nvGrpSpPr>
        <p:grpSpPr>
          <a:xfrm>
            <a:off x="2113075" y="933619"/>
            <a:ext cx="7965850" cy="4990762"/>
            <a:chOff x="840461" y="988208"/>
            <a:chExt cx="6771334" cy="4485918"/>
          </a:xfrm>
        </p:grpSpPr>
        <p:pic>
          <p:nvPicPr>
            <p:cNvPr id="3" name="Picture 2" descr="A table with numbers and a black text&#10;&#10;AI-generated content may be incorrect.">
              <a:extLst>
                <a:ext uri="{FF2B5EF4-FFF2-40B4-BE49-F238E27FC236}">
                  <a16:creationId xmlns:a16="http://schemas.microsoft.com/office/drawing/2014/main" id="{E77D20D7-331E-E8D8-99A8-DBC222BCC01C}"/>
                </a:ext>
              </a:extLst>
            </p:cNvPr>
            <p:cNvPicPr>
              <a:picLocks noChangeAspect="1"/>
            </p:cNvPicPr>
            <p:nvPr/>
          </p:nvPicPr>
          <p:blipFill>
            <a:blip r:embed="rId2"/>
            <a:stretch>
              <a:fillRect/>
            </a:stretch>
          </p:blipFill>
          <p:spPr>
            <a:xfrm>
              <a:off x="840461" y="3185824"/>
              <a:ext cx="6771334" cy="2288302"/>
            </a:xfrm>
            <a:prstGeom prst="rect">
              <a:avLst/>
            </a:prstGeom>
          </p:spPr>
        </p:pic>
        <p:pic>
          <p:nvPicPr>
            <p:cNvPr id="5" name="Picture 4" descr="A table with numbers and text&#10;&#10;AI-generated content may be incorrect.">
              <a:extLst>
                <a:ext uri="{FF2B5EF4-FFF2-40B4-BE49-F238E27FC236}">
                  <a16:creationId xmlns:a16="http://schemas.microsoft.com/office/drawing/2014/main" id="{39FF773D-3F87-5731-7FF5-A984A120872D}"/>
                </a:ext>
              </a:extLst>
            </p:cNvPr>
            <p:cNvPicPr>
              <a:picLocks noChangeAspect="1"/>
            </p:cNvPicPr>
            <p:nvPr/>
          </p:nvPicPr>
          <p:blipFill>
            <a:blip r:embed="rId3"/>
            <a:stretch>
              <a:fillRect/>
            </a:stretch>
          </p:blipFill>
          <p:spPr>
            <a:xfrm>
              <a:off x="840461" y="988208"/>
              <a:ext cx="4265450" cy="2197615"/>
            </a:xfrm>
            <a:prstGeom prst="rect">
              <a:avLst/>
            </a:prstGeom>
          </p:spPr>
        </p:pic>
      </p:grpSp>
      <p:sp>
        <p:nvSpPr>
          <p:cNvPr id="7" name="TextBox 6">
            <a:extLst>
              <a:ext uri="{FF2B5EF4-FFF2-40B4-BE49-F238E27FC236}">
                <a16:creationId xmlns:a16="http://schemas.microsoft.com/office/drawing/2014/main" id="{3E4DB8CD-275F-1EA8-1C0A-DE72D6711DD3}"/>
              </a:ext>
            </a:extLst>
          </p:cNvPr>
          <p:cNvSpPr txBox="1"/>
          <p:nvPr/>
        </p:nvSpPr>
        <p:spPr>
          <a:xfrm>
            <a:off x="1886009" y="6363978"/>
            <a:ext cx="6918945" cy="369332"/>
          </a:xfrm>
          <a:prstGeom prst="rect">
            <a:avLst/>
          </a:prstGeom>
          <a:noFill/>
        </p:spPr>
        <p:txBody>
          <a:bodyPr wrap="none" rtlCol="0">
            <a:spAutoFit/>
          </a:bodyPr>
          <a:lstStyle/>
          <a:p>
            <a:r>
              <a:rPr lang="en-US" dirty="0">
                <a:solidFill>
                  <a:schemeClr val="tx2"/>
                </a:solidFill>
              </a:rPr>
              <a:t>* note: crypto hard to replicate IRL; most exchanges don’t allow shorting</a:t>
            </a:r>
          </a:p>
        </p:txBody>
      </p:sp>
    </p:spTree>
    <p:extLst>
      <p:ext uri="{BB962C8B-B14F-4D97-AF65-F5344CB8AC3E}">
        <p14:creationId xmlns:p14="http://schemas.microsoft.com/office/powerpoint/2010/main" val="756060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26212-AE5B-7796-61CC-F484B6DD44DF}"/>
              </a:ext>
            </a:extLst>
          </p:cNvPr>
          <p:cNvSpPr>
            <a:spLocks noGrp="1"/>
          </p:cNvSpPr>
          <p:nvPr>
            <p:ph type="title"/>
          </p:nvPr>
        </p:nvSpPr>
        <p:spPr/>
        <p:txBody>
          <a:bodyPr/>
          <a:lstStyle/>
          <a:p>
            <a:r>
              <a:rPr lang="en-US" dirty="0"/>
              <a:t>ANOVA and T-tests</a:t>
            </a:r>
          </a:p>
        </p:txBody>
      </p:sp>
      <p:sp>
        <p:nvSpPr>
          <p:cNvPr id="9" name="Content Placeholder 8">
            <a:extLst>
              <a:ext uri="{FF2B5EF4-FFF2-40B4-BE49-F238E27FC236}">
                <a16:creationId xmlns:a16="http://schemas.microsoft.com/office/drawing/2014/main" id="{593A2810-E9AC-A37B-6E8B-A98E9201D136}"/>
              </a:ext>
            </a:extLst>
          </p:cNvPr>
          <p:cNvSpPr>
            <a:spLocks noGrp="1"/>
          </p:cNvSpPr>
          <p:nvPr>
            <p:ph sz="half" idx="1"/>
          </p:nvPr>
        </p:nvSpPr>
        <p:spPr>
          <a:xfrm>
            <a:off x="777240" y="3688285"/>
            <a:ext cx="5242560" cy="2488677"/>
          </a:xfrm>
        </p:spPr>
        <p:txBody>
          <a:bodyPr/>
          <a:lstStyle/>
          <a:p>
            <a:r>
              <a:rPr lang="en-US" dirty="0"/>
              <a:t>F-statistic exceeds critical value (4.01) </a:t>
            </a:r>
            <a:r>
              <a:rPr lang="en-US" dirty="0">
                <a:sym typeface="Wingdings" pitchFamily="2" charset="2"/>
              </a:rPr>
              <a:t> reject null hypothesis</a:t>
            </a:r>
          </a:p>
          <a:p>
            <a:r>
              <a:rPr lang="en-US" dirty="0">
                <a:sym typeface="Wingdings" pitchFamily="2" charset="2"/>
              </a:rPr>
              <a:t>Statistically significant difference when including FF factors</a:t>
            </a:r>
          </a:p>
          <a:p>
            <a:endParaRPr lang="en-US" dirty="0"/>
          </a:p>
        </p:txBody>
      </p:sp>
      <p:pic>
        <p:nvPicPr>
          <p:cNvPr id="10" name="Content Placeholder 5" descr="A table of numbers and a number of squares&#10;&#10;AI-generated content may be incorrect.">
            <a:extLst>
              <a:ext uri="{FF2B5EF4-FFF2-40B4-BE49-F238E27FC236}">
                <a16:creationId xmlns:a16="http://schemas.microsoft.com/office/drawing/2014/main" id="{368BA0F9-B0FE-C5A9-2747-C70A8E0AA168}"/>
              </a:ext>
            </a:extLst>
          </p:cNvPr>
          <p:cNvPicPr>
            <a:picLocks noChangeAspect="1"/>
          </p:cNvPicPr>
          <p:nvPr/>
        </p:nvPicPr>
        <p:blipFill>
          <a:blip r:embed="rId3"/>
          <a:stretch>
            <a:fillRect/>
          </a:stretch>
        </p:blipFill>
        <p:spPr>
          <a:xfrm>
            <a:off x="777875" y="1830228"/>
            <a:ext cx="5241925" cy="1624649"/>
          </a:xfrm>
          <a:prstGeom prst="rect">
            <a:avLst/>
          </a:prstGeom>
        </p:spPr>
      </p:pic>
      <p:sp>
        <p:nvSpPr>
          <p:cNvPr id="14" name="Content Placeholder 13">
            <a:extLst>
              <a:ext uri="{FF2B5EF4-FFF2-40B4-BE49-F238E27FC236}">
                <a16:creationId xmlns:a16="http://schemas.microsoft.com/office/drawing/2014/main" id="{49AF1A97-85A3-1186-DE47-18639455B977}"/>
              </a:ext>
            </a:extLst>
          </p:cNvPr>
          <p:cNvSpPr>
            <a:spLocks noGrp="1"/>
          </p:cNvSpPr>
          <p:nvPr>
            <p:ph sz="half" idx="2"/>
          </p:nvPr>
        </p:nvSpPr>
        <p:spPr>
          <a:xfrm>
            <a:off x="6172200" y="3590865"/>
            <a:ext cx="5181600" cy="434950"/>
          </a:xfrm>
        </p:spPr>
        <p:txBody>
          <a:bodyPr/>
          <a:lstStyle/>
          <a:p>
            <a:r>
              <a:rPr lang="en-US" dirty="0"/>
              <a:t>Fail to reject null hypothesis</a:t>
            </a:r>
          </a:p>
        </p:txBody>
      </p:sp>
      <p:pic>
        <p:nvPicPr>
          <p:cNvPr id="15" name="Content Placeholder 11" descr="A table with text overlay&#10;&#10;AI-generated content may be incorrect.">
            <a:extLst>
              <a:ext uri="{FF2B5EF4-FFF2-40B4-BE49-F238E27FC236}">
                <a16:creationId xmlns:a16="http://schemas.microsoft.com/office/drawing/2014/main" id="{4ED27E7C-4273-37E2-9E23-D1CB72DDA69F}"/>
              </a:ext>
            </a:extLst>
          </p:cNvPr>
          <p:cNvPicPr>
            <a:picLocks noChangeAspect="1"/>
          </p:cNvPicPr>
          <p:nvPr/>
        </p:nvPicPr>
        <p:blipFill>
          <a:blip r:embed="rId4"/>
          <a:stretch>
            <a:fillRect/>
          </a:stretch>
        </p:blipFill>
        <p:spPr>
          <a:xfrm>
            <a:off x="6172200" y="1826676"/>
            <a:ext cx="3695956" cy="1628201"/>
          </a:xfrm>
          <a:prstGeom prst="rect">
            <a:avLst/>
          </a:prstGeom>
        </p:spPr>
      </p:pic>
      <p:pic>
        <p:nvPicPr>
          <p:cNvPr id="17" name="Picture 16" descr="A table with numbers and text&#10;&#10;AI-generated content may be incorrect.">
            <a:extLst>
              <a:ext uri="{FF2B5EF4-FFF2-40B4-BE49-F238E27FC236}">
                <a16:creationId xmlns:a16="http://schemas.microsoft.com/office/drawing/2014/main" id="{F7027320-1FCE-F197-9CC5-A65457B234DD}"/>
              </a:ext>
            </a:extLst>
          </p:cNvPr>
          <p:cNvPicPr>
            <a:picLocks noChangeAspect="1"/>
          </p:cNvPicPr>
          <p:nvPr/>
        </p:nvPicPr>
        <p:blipFill>
          <a:blip r:embed="rId5"/>
          <a:stretch>
            <a:fillRect/>
          </a:stretch>
        </p:blipFill>
        <p:spPr>
          <a:xfrm>
            <a:off x="6172200" y="4025815"/>
            <a:ext cx="4140715" cy="1458537"/>
          </a:xfrm>
          <a:prstGeom prst="rect">
            <a:avLst/>
          </a:prstGeom>
        </p:spPr>
      </p:pic>
      <p:sp>
        <p:nvSpPr>
          <p:cNvPr id="19" name="TextBox 18">
            <a:extLst>
              <a:ext uri="{FF2B5EF4-FFF2-40B4-BE49-F238E27FC236}">
                <a16:creationId xmlns:a16="http://schemas.microsoft.com/office/drawing/2014/main" id="{5B90AE80-3F9D-99C9-6868-EF036DC15EE2}"/>
              </a:ext>
            </a:extLst>
          </p:cNvPr>
          <p:cNvSpPr txBox="1"/>
          <p:nvPr/>
        </p:nvSpPr>
        <p:spPr>
          <a:xfrm>
            <a:off x="6172199" y="5484352"/>
            <a:ext cx="4140715"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tx2"/>
                </a:solidFill>
              </a:rPr>
              <a:t>Statistically significant difference in means </a:t>
            </a:r>
            <a:r>
              <a:rPr lang="en-US" dirty="0">
                <a:solidFill>
                  <a:schemeClr val="tx2"/>
                </a:solidFill>
                <a:sym typeface="Wingdings" pitchFamily="2" charset="2"/>
              </a:rPr>
              <a:t> r</a:t>
            </a:r>
            <a:r>
              <a:rPr lang="en-US" dirty="0">
                <a:solidFill>
                  <a:schemeClr val="tx2"/>
                </a:solidFill>
              </a:rPr>
              <a:t>eject null hypothesis</a:t>
            </a:r>
          </a:p>
          <a:p>
            <a:pPr marL="285750" indent="-285750">
              <a:buFont typeface="Arial" panose="020B0604020202020204" pitchFamily="34" charset="0"/>
              <a:buChar char="•"/>
            </a:pPr>
            <a:r>
              <a:rPr lang="en-US" dirty="0">
                <a:solidFill>
                  <a:schemeClr val="tx2"/>
                </a:solidFill>
              </a:rPr>
              <a:t>Still, no significance between stock categories</a:t>
            </a:r>
          </a:p>
          <a:p>
            <a:endParaRPr lang="en-US" dirty="0">
              <a:solidFill>
                <a:schemeClr val="tx2"/>
              </a:solidFill>
            </a:endParaRPr>
          </a:p>
        </p:txBody>
      </p:sp>
    </p:spTree>
    <p:extLst>
      <p:ext uri="{BB962C8B-B14F-4D97-AF65-F5344CB8AC3E}">
        <p14:creationId xmlns:p14="http://schemas.microsoft.com/office/powerpoint/2010/main" val="1769279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92663A72-E771-41D4-96AA-28C1B2172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88164F59-4B09-4DB4-A99F-97C71DE46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8EE08CC5-075A-BD35-6CD5-DB4FA0EC3FF6}"/>
              </a:ext>
            </a:extLst>
          </p:cNvPr>
          <p:cNvSpPr>
            <a:spLocks noGrp="1"/>
          </p:cNvSpPr>
          <p:nvPr>
            <p:ph type="title"/>
          </p:nvPr>
        </p:nvSpPr>
        <p:spPr>
          <a:xfrm>
            <a:off x="444931" y="787638"/>
            <a:ext cx="4606280" cy="5157049"/>
          </a:xfrm>
        </p:spPr>
        <p:txBody>
          <a:bodyPr anchor="ctr">
            <a:normAutofit/>
          </a:bodyPr>
          <a:lstStyle/>
          <a:p>
            <a:r>
              <a:rPr lang="en-US" sz="4400" dirty="0"/>
              <a:t>Implications and Limitations</a:t>
            </a:r>
          </a:p>
        </p:txBody>
      </p:sp>
      <p:sp>
        <p:nvSpPr>
          <p:cNvPr id="59" name="Freeform: Shape 47">
            <a:extLst>
              <a:ext uri="{FF2B5EF4-FFF2-40B4-BE49-F238E27FC236}">
                <a16:creationId xmlns:a16="http://schemas.microsoft.com/office/drawing/2014/main" id="{6B336017-F12B-485C-B5E1-B6971DA0C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6099" y="238175"/>
            <a:ext cx="6735901" cy="6619825"/>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60" name="decorative circles">
            <a:extLst>
              <a:ext uri="{FF2B5EF4-FFF2-40B4-BE49-F238E27FC236}">
                <a16:creationId xmlns:a16="http://schemas.microsoft.com/office/drawing/2014/main" id="{C2C078FA-5775-45CB-A8F3-53B3F1AD2B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51383" y="299808"/>
            <a:ext cx="1668948" cy="6421669"/>
            <a:chOff x="9951383" y="299808"/>
            <a:chExt cx="1668948" cy="6421669"/>
          </a:xfrm>
        </p:grpSpPr>
        <p:sp>
          <p:nvSpPr>
            <p:cNvPr id="61" name="Oval 60">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53890" y="55441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236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16802" y="6415697"/>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51383" y="6204350"/>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39" name="Content Placeholder 2">
            <a:extLst>
              <a:ext uri="{FF2B5EF4-FFF2-40B4-BE49-F238E27FC236}">
                <a16:creationId xmlns:a16="http://schemas.microsoft.com/office/drawing/2014/main" id="{940DF2B3-9461-72B1-4E5D-E1C8F3DBF2B6}"/>
              </a:ext>
            </a:extLst>
          </p:cNvPr>
          <p:cNvGraphicFramePr>
            <a:graphicFrameLocks noGrp="1"/>
          </p:cNvGraphicFramePr>
          <p:nvPr>
            <p:ph idx="1"/>
            <p:extLst>
              <p:ext uri="{D42A27DB-BD31-4B8C-83A1-F6EECF244321}">
                <p14:modId xmlns:p14="http://schemas.microsoft.com/office/powerpoint/2010/main" val="222653857"/>
              </p:ext>
            </p:extLst>
          </p:nvPr>
        </p:nvGraphicFramePr>
        <p:xfrm>
          <a:off x="4926563" y="238176"/>
          <a:ext cx="6820506" cy="6320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745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2E679-216D-039E-2E2F-34E067EB6F5F}"/>
              </a:ext>
            </a:extLst>
          </p:cNvPr>
          <p:cNvSpPr>
            <a:spLocks noGrp="1"/>
          </p:cNvSpPr>
          <p:nvPr>
            <p:ph type="title"/>
          </p:nvPr>
        </p:nvSpPr>
        <p:spPr/>
        <p:txBody>
          <a:bodyPr/>
          <a:lstStyle/>
          <a:p>
            <a:r>
              <a:rPr lang="en-US"/>
              <a:t>Conclusion and Next Steps</a:t>
            </a:r>
            <a:endParaRPr lang="en-US" dirty="0"/>
          </a:p>
        </p:txBody>
      </p:sp>
      <p:sp>
        <p:nvSpPr>
          <p:cNvPr id="3" name="Content Placeholder 2">
            <a:extLst>
              <a:ext uri="{FF2B5EF4-FFF2-40B4-BE49-F238E27FC236}">
                <a16:creationId xmlns:a16="http://schemas.microsoft.com/office/drawing/2014/main" id="{C0B0051A-0980-D818-06C6-32AEFFAC36CB}"/>
              </a:ext>
            </a:extLst>
          </p:cNvPr>
          <p:cNvSpPr>
            <a:spLocks noGrp="1"/>
          </p:cNvSpPr>
          <p:nvPr>
            <p:ph idx="1"/>
          </p:nvPr>
        </p:nvSpPr>
        <p:spPr/>
        <p:txBody>
          <a:bodyPr/>
          <a:lstStyle/>
          <a:p>
            <a:pPr marL="0" indent="0">
              <a:buNone/>
            </a:pPr>
            <a:r>
              <a:rPr lang="en-US" b="1"/>
              <a:t>MAIN TAKEAWAY: </a:t>
            </a:r>
            <a:r>
              <a:rPr lang="en-US"/>
              <a:t>Inefficiencies DO exist, and neural net (AI) approaches can exploit them.</a:t>
            </a:r>
          </a:p>
          <a:p>
            <a:r>
              <a:rPr lang="en-US"/>
              <a:t>Financial market data helps!</a:t>
            </a:r>
          </a:p>
          <a:p>
            <a:pPr marL="0" indent="0">
              <a:buNone/>
            </a:pPr>
            <a:endParaRPr lang="en-US"/>
          </a:p>
          <a:p>
            <a:pPr marL="0" indent="0">
              <a:buNone/>
            </a:pPr>
            <a:r>
              <a:rPr lang="en-US" b="1"/>
              <a:t>NEXT STEPS:</a:t>
            </a:r>
          </a:p>
          <a:p>
            <a:r>
              <a:rPr lang="en-US"/>
              <a:t>Robustness tests in volatile timeframes (crashes, tariff wars, etc.).</a:t>
            </a:r>
          </a:p>
          <a:p>
            <a:r>
              <a:rPr lang="en-US"/>
              <a:t>Test if more input data helps.</a:t>
            </a:r>
          </a:p>
          <a:p>
            <a:r>
              <a:rPr lang="en-US" b="1"/>
              <a:t>Expand</a:t>
            </a:r>
            <a:r>
              <a:rPr lang="en-US"/>
              <a:t> to more assets.</a:t>
            </a:r>
          </a:p>
          <a:p>
            <a:pPr marL="0" indent="0">
              <a:buNone/>
            </a:pPr>
            <a:endParaRPr lang="en-US"/>
          </a:p>
          <a:p>
            <a:pPr marL="0" indent="0">
              <a:buNone/>
            </a:pPr>
            <a:r>
              <a:rPr lang="en-US"/>
              <a:t>Test with real money…?</a:t>
            </a:r>
            <a:endParaRPr lang="en-US" dirty="0"/>
          </a:p>
        </p:txBody>
      </p:sp>
    </p:spTree>
    <p:extLst>
      <p:ext uri="{BB962C8B-B14F-4D97-AF65-F5344CB8AC3E}">
        <p14:creationId xmlns:p14="http://schemas.microsoft.com/office/powerpoint/2010/main" val="3689482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B6774-17F8-ED80-BC27-E52A160436CE}"/>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0E536157-80C7-266E-D995-4AB5F9ADEB93}"/>
              </a:ext>
            </a:extLst>
          </p:cNvPr>
          <p:cNvSpPr>
            <a:spLocks noGrp="1"/>
          </p:cNvSpPr>
          <p:nvPr>
            <p:ph type="body" idx="1"/>
          </p:nvPr>
        </p:nvSpPr>
        <p:spPr/>
        <p:txBody>
          <a:bodyPr/>
          <a:lstStyle/>
          <a:p>
            <a:r>
              <a:rPr lang="en-US" dirty="0"/>
              <a:t>Q&amp;A time?</a:t>
            </a:r>
          </a:p>
          <a:p>
            <a:endParaRPr lang="en-US" dirty="0"/>
          </a:p>
          <a:p>
            <a:r>
              <a:rPr lang="en-US" sz="1800" dirty="0"/>
              <a:t>For more info, full citations, etc., read my thesis on </a:t>
            </a:r>
            <a:r>
              <a:rPr lang="en-US" sz="1800" dirty="0" err="1"/>
              <a:t>digitalcc</a:t>
            </a:r>
            <a:r>
              <a:rPr lang="en-US" sz="1800" dirty="0"/>
              <a:t>. </a:t>
            </a:r>
          </a:p>
        </p:txBody>
      </p:sp>
      <p:pic>
        <p:nvPicPr>
          <p:cNvPr id="1026" name="Picture 2" descr="Stonks: Why we're all saying it now.">
            <a:extLst>
              <a:ext uri="{FF2B5EF4-FFF2-40B4-BE49-F238E27FC236}">
                <a16:creationId xmlns:a16="http://schemas.microsoft.com/office/drawing/2014/main" id="{E6012EAA-942B-BC13-9587-313187BFB8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0465" y="3812786"/>
            <a:ext cx="3104295" cy="2068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28912"/>
      </p:ext>
    </p:extLst>
  </p:cSld>
  <p:clrMapOvr>
    <a:masterClrMapping/>
  </p:clrMapOvr>
</p:sld>
</file>

<file path=ppt/theme/theme1.xml><?xml version="1.0" encoding="utf-8"?>
<a:theme xmlns:a="http://schemas.openxmlformats.org/drawingml/2006/main" name="ConfettiVTI">
  <a:themeElements>
    <a:clrScheme name="Custom 30">
      <a:dk1>
        <a:sysClr val="windowText" lastClr="000000"/>
      </a:dk1>
      <a:lt1>
        <a:sysClr val="window" lastClr="FFFFFF"/>
      </a:lt1>
      <a:dk2>
        <a:srgbClr val="420023"/>
      </a:dk2>
      <a:lt2>
        <a:srgbClr val="FDFBF9"/>
      </a:lt2>
      <a:accent1>
        <a:srgbClr val="97446E"/>
      </a:accent1>
      <a:accent2>
        <a:srgbClr val="A40056"/>
      </a:accent2>
      <a:accent3>
        <a:srgbClr val="24BEEE"/>
      </a:accent3>
      <a:accent4>
        <a:srgbClr val="91274F"/>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1780</TotalTime>
  <Words>1116</Words>
  <Application>Microsoft Macintosh PowerPoint</Application>
  <PresentationFormat>Widescreen</PresentationFormat>
  <Paragraphs>146</Paragraphs>
  <Slides>20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-webkit-standard</vt:lpstr>
      <vt:lpstr>Aptos</vt:lpstr>
      <vt:lpstr>Arial</vt:lpstr>
      <vt:lpstr>Calibri</vt:lpstr>
      <vt:lpstr>Gill Sans Nova</vt:lpstr>
      <vt:lpstr>Wingdings</vt:lpstr>
      <vt:lpstr>ConfettiVTI</vt:lpstr>
      <vt:lpstr>NEURAL NETWORKS IN ASSET MANAGEMENT</vt:lpstr>
      <vt:lpstr>Everyone says “Buy low, sell high.”</vt:lpstr>
      <vt:lpstr>Random Walk and EMH</vt:lpstr>
      <vt:lpstr>Why Machine Learning?</vt:lpstr>
      <vt:lpstr>What is a Neural Network?</vt:lpstr>
      <vt:lpstr>Recurrent Neural Network (RNN)</vt:lpstr>
      <vt:lpstr>Long Short-Term Memory (LSTM)</vt:lpstr>
      <vt:lpstr>Research Questions and Hypotheses</vt:lpstr>
      <vt:lpstr>Data: Assets</vt:lpstr>
      <vt:lpstr>Data: Fama-French Factors</vt:lpstr>
      <vt:lpstr>Input Vector</vt:lpstr>
      <vt:lpstr>Methodology Steps</vt:lpstr>
      <vt:lpstr>Sliding Window Training</vt:lpstr>
      <vt:lpstr>PowerPoint Presentation</vt:lpstr>
      <vt:lpstr>Main result: BIG Alpha Improvement</vt:lpstr>
      <vt:lpstr>PowerPoint Presentation</vt:lpstr>
      <vt:lpstr>ANOVA and T-tests</vt:lpstr>
      <vt:lpstr>Implications and Limitations</vt:lpstr>
      <vt:lpstr>Conclusion and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 Fabbri</dc:creator>
  <cp:lastModifiedBy>Karen Fabbri</cp:lastModifiedBy>
  <cp:revision>2</cp:revision>
  <dcterms:created xsi:type="dcterms:W3CDTF">2025-04-18T19:54:59Z</dcterms:created>
  <dcterms:modified xsi:type="dcterms:W3CDTF">2026-05-28T23:55:18Z</dcterms:modified>
</cp:coreProperties>
</file>